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1" r:id="rId3"/>
    <p:sldId id="269" r:id="rId4"/>
    <p:sldId id="259" r:id="rId5"/>
    <p:sldId id="260" r:id="rId6"/>
    <p:sldId id="264" r:id="rId7"/>
    <p:sldId id="270" r:id="rId8"/>
    <p:sldId id="262" r:id="rId9"/>
    <p:sldId id="268" r:id="rId10"/>
    <p:sldId id="267" r:id="rId11"/>
    <p:sldId id="265" r:id="rId12"/>
    <p:sldId id="266" r:id="rId13"/>
    <p:sldId id="263" r:id="rId14"/>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25"/>
    <p:restoredTop sz="77603"/>
  </p:normalViewPr>
  <p:slideViewPr>
    <p:cSldViewPr snapToGrid="0">
      <p:cViewPr varScale="1">
        <p:scale>
          <a:sx n="93" d="100"/>
          <a:sy n="93" d="100"/>
        </p:scale>
        <p:origin x="1056" y="200"/>
      </p:cViewPr>
      <p:guideLst/>
    </p:cSldViewPr>
  </p:slideViewPr>
  <p:outlineViewPr>
    <p:cViewPr>
      <p:scale>
        <a:sx n="33" d="100"/>
        <a:sy n="33" d="100"/>
      </p:scale>
      <p:origin x="0" y="-14512"/>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08:02:59.56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46,'88'0,"0"0,11 0,1 0,2 0,-1 0,-3 0,-5 0,-16 0,-7 0,30 0,-37 0,-23 0,5 0,40 0,-15 0,7 0,26 0,7 0,-26-1,2 0,0-1,-2 0,-1-1,-2 1,28-3,-6 0,-23 0,-8-1,21-1,-37 3,-29 2,-13 2,6 2,23 5,53 8,-33-5,4 0,9 1,-1 0,-7-2,-3 0,26 6,-33-6,-29-2,-16-2,13-1,11-3,29 0,23-6,-2-2,-18 0,-26 2,-30 3,0 2,8 0,-4 0,18 0,7 0,22 0,8-2,-5 0,-19-1,-25 1,-11 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9:46:29.392"/>
    </inkml:context>
    <inkml:brush xml:id="br0">
      <inkml:brushProperty name="width" value="0.035" units="cm"/>
      <inkml:brushProperty name="height" value="0.035" units="cm"/>
      <inkml:brushProperty name="color" value="#E71224"/>
    </inkml:brush>
  </inkml:definitions>
  <inkml:trace contextRef="#ctx0" brushRef="#br0">2293 138 24575,'-31'0'0,"-38"0"0,8-1 0,-8-3 0,-18-3 0,-4-2 0,5-1 0,4-1 0,-42-9 0,59 7 0,43 9 0,4 1 0,-10 0 0,-16-2 0,-19-3 0,-13 0 0,-4-2 0,9 1 0,15 3 0,20 1 0,16 4 0,14 0 0,7 2 0,1 1 0,0 2 0,-1 1 0,1 1 0,0 3 0,-2 2 0,0 8 0,0 17 0,0 28 0,-12 37 0,-2-28 0,-3 6 0,-5 16 0,-4 4 0,-4 6 0,0 0 0,0 0 0,0-1 0,2-4 0,0-2 0,4-7 0,0-1 0,2-1 0,1 0 0,2-3 0,1-1 0,2-9 0,1 0 0,1-2 0,0-1 0,0-2 0,0 0 0,1 0 0,1 1 0,-1 6 0,0 3 0,0 3 0,-1 2 0,1 4 0,0 1 0,-2 4 0,0 1 0,1 1 0,0 0 0,1-2 0,1-2 0,1-4 0,1-1 0,2 0 0,0-1 0,1-3 0,0-1 0,2 2 0,0 0 0,1-2 0,-1-3 0,2-9 0,1-3 0,-4 52 0,-1-26 0,2-16 0,-1-11 0,2-8 0,0-9 0,-2-14 0,3-8 0,-1-3 0,-2 15 0,-5 21 0,-6 15 0,-4 18 0,3-12 0,4-15 0,4-12 0,-1-6 0,-3 16 0,-5 17 0,-1 11 0,2-1 0,5-14 0,6-19 0,2-17 0,1-6 0,0 7 0,-1 3 0,1 2 0,-1-9 0,4-10 0,0-4 0,1 4 0,0 12 0,0 9 0,0 1 0,0-9 0,0-11 0,0-11 0,0-6 0,0-1 0,0 3 0,0 6 0,0-1 0,0-2 0,0-3 0,0-2 0,0 3 0,0 4 0,0 3 0,0 1 0,0-2 0,0-3 0,0-3 0,0 2 0,0 2 0,1 2 0,1 1 0,0-3 0,1-7 0,3-5 0,10-6 0,14-3 0,17 4 0,11 1 0,5 1 0,3 0 0,4-1 0,10-2 0,9 1 0,-2-2 0,-14 2 0,-17 2 0,-15-2 0,-10-1 0,4 1 0,17 1 0,27 2 0,32 3 0,-48-6 0,1 0 0,0-1 0,-1-1 0,46 0 0,-31-2 0,-29 0 0,-23 0 0,-11 0 0,-1 0 0,10 0 0,16 0 0,14 0 0,1-1 0,-11-3 0,-16 0 0,-13 0 0,-7-2 0,-5-16 0,-6-31 0,-8-42 0,2 14 0,-2-9 0,0-10 0,-1-4 0,1-9 0,1 0 0,2 4 0,2 4 0,2 16 0,2 3 0,0 5 0,1 3 0,1 9 0,0 1 0,0 3 0,0 2 0,0-51 0,0 9 0,0 21 0,0 21 0,0 15 0,0-10 0,2-41 0,2 25 0,0-6 0,2-11 0,1-1 0,1 0 0,-1 2 0,0 15 0,-1 6 0,2-25 0,-1 29 0,-1 17 0,2 4 0,0-1 0,-2 8 0,-2 10 0,-2 5 0,-2 2 0,0-12 0,6-27 0,10-32 0,-2 25 0,3-4 0,0-1 0,1 1 0,-1 6 0,-2 1 0,10-43 0,-9 15 0,-3-13 0,-1-12 0,-1-5 0,-3 18 0,-3 19 0,-3 25 0,-2 18 0,2 13 0,0 8 0,0 1 0,1-1 0,-1-2 0,-1 2 0,0 5 0,-1-7 0,1-21 0,5-27 0,6-34 0,-3 42 0,1-2 0,11-55 0,-3 7 0,-2 6 0,-5 3 0,0-12 0,-4 9 0,-1 23 0,-2 25 0,-1 26 0,-2 16 0,-1 4 0,0-4 0,0-6 0,0-4 0,0 3 0,0 3 0,0-4 0,-1-9 0,-3-12 0,0-3 0,-1 6 0,1 15 0,2 12 0,0 5 0,1 0 0,1-4 0,0-3 0,0 0 0,0 3 0,0 4 0,0 1 0,0-7 0,0-9 0,0-7 0,0 2 0,-2 9 0,1 8 0,-1 6 0,0 2 0,2-1 0,0-1 0,0-7 0,0-10 0,-1-8 0,-2-5 0,1 5 0,0 8 0,2 3 0,0-5 0,0-9 0,0-4 0,0 4 0,0 13 0,0 12 0,0 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09:48:02.74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1 147,'102'0,"6"0,-51 0,0 0,0 0,0 0,46 0,-13 0,2 0,5 0,-42 0,2 0,10 0,3-1,5-3,3-2,6-2,1-2,5-1,0-1,-2-1,1 0,-4 1,-2 1,-4 3,-2 0,-6 0,-1 1,-7 2,-1 1,43 1,-13 0,-16 3,-9 0,-6 0,-3 0,-2 0,-3 0,-2 0,-2 2,0 1,2 2,6 0,9-2,9-1,6-2,-1 0,-9 0,-10 1,-7 1,-6 1,1-1,-2-1,-3-1,4 0,13 0,22 0,16 0,-43 0,0 0,0 0,-1 0,50 0,-5 0,-13 0,-9 0,-12 0,-10 0,-7 3,-5 1,0 2,4 2,9 0,10 0,6 2,0-2,-7-1,-8-2,-7-2,-6 0,-6 0,-10-1,-7-2,-7 0,3 2,-3 0,8 2,-1 2,4-1,1-1,-1 0,-3-2,-6 1,-4-1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09:48:04.99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54,'89'0,"1"0,7 0,2 0,-24 0,3 0,-1 0,2 0,0 0,-1 0,-1 0,-1 0,3 0,11 0,3 0,1 0,-1 0,1 0,0 0,1 0,0 0,-1 0,-1 0,0 0,-4 0,21 1,-4-2,1-1,-3-2,-7 1,-2-2,-5-2,-2 0,-8 1,-3-1,-8 3,-3 1,-5 1,-4 0,33 2,-23 0,-13 0,-5 2,8 6,13 8,11 5,6 3,-4-6,-10-8,-8-1,-5-3,0-1,0-1,0-4,-5 0,-6 0,-7 0,-6 0,-2 0,-2 0,-4 0,-5 0,-5 0,-4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9:48:30.094"/>
    </inkml:context>
    <inkml:brush xml:id="br0">
      <inkml:brushProperty name="width" value="0.035" units="cm"/>
      <inkml:brushProperty name="height" value="0.035" units="cm"/>
      <inkml:brushProperty name="color" value="#E71224"/>
    </inkml:brush>
  </inkml:definitions>
  <inkml:trace contextRef="#ctx0" brushRef="#br0">64 587 24575,'12'0'0,"4"0"0,13 0 0,4 0 0,5 0 0,1 0 0,-4 0 0,-2 0 0,-3 0 0,3 0 0,7 0 0,7 1 0,2 0 0,-4 1 0,-7-1 0,-8 0 0,-3-1 0,-2 0 0,1 0 0,1 0 0,2 0 0,1 0 0,0 0 0,0 0 0,-1 0 0,-1 0 0,2 0 0,4 0 0,1 0 0,1 0 0,-5 0 0,-8 0 0,-7 0 0,-6 0 0,-3 0 0,0 0 0,2 0 0,5 0 0,6-1 0,0-2 0,-2 0 0,-4 1 0,-5 1 0,-3 0 0,-3-3 0,-3-2 0,-1-5 0,-4-5 0,-2-1 0,-2-2 0,2 3 0,2 3 0,-1 1 0,2 1 0,0-2 0,1-8 0,1-10 0,1-9 0,0-1 0,1 10 0,0 9 0,0 10 0,-2-1 0,0-10 0,-3-24 0,-1-11 0,1 3 0,0 18 0,3 27 0,-1 7 0,1 5 0,-2 2 0,-1-1 0,-2 1 0,-2-1 0,-3 0 0,-1-2 0,-3 2 0,-4-2 0,-4 0 0,-5 0 0,-5 0 0,-3 0 0,-4 1 0,-2-1 0,0 0 0,1-1 0,5 0 0,4 0 0,3 0 0,3 0 0,0 0 0,0 0 0,1 0 0,3 0 0,2 0 0,2 0 0,0 0 0,-1 0 0,-4 0 0,-3 0 0,-4 0 0,1 0 0,1 0 0,5 0 0,3 0 0,1 0 0,-1 0 0,1 0 0,0 0 0,2 0 0,0 0 0,1 0 0,0 0 0,1 0 0,0 0 0,0 0 0,2 0 0,0 0 0,5 0 0,2 0 0,2 0 0,1 0 0,0 0 0,0 0 0,-1 0 0,1 0 0,2 3 0,0 1 0,4 4 0,5 3 0,3 3 0,4 0 0,-1 1 0,-3-2 0,-1 2 0,-1 1 0,-2 4 0,-2 0 0,-2-3 0,1-1 0,-1-3 0,0 1 0,0 2 0,0 1 0,0 3 0,0-1 0,0-3 0,-1-3 0,1-2 0,-1-1 0,0 1 0,1 3 0,0 3 0,0 1 0,0 2 0,-1-1 0,0-2 0,0-3 0,0-2 0,0-4 0,-1-1 0,0-2 0,1 0 0,0 0 0,0-1 0,2 2 0,-1 1 0,0-1 0,-1 0 0,-1-2 0,1 0 0,0 2 0,0 0 0,-1-4 0,0 1 0,0-5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73A55C-F356-CB4A-A344-E525150E5D3F}" type="datetimeFigureOut">
              <a:rPr lang="en-CN" smtClean="0"/>
              <a:t>2026/9/13</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2537B5-2B73-404C-90B3-3B24F910552D}" type="slidenum">
              <a:rPr lang="en-CN" smtClean="0"/>
              <a:t>‹#›</a:t>
            </a:fld>
            <a:endParaRPr lang="en-CN"/>
          </a:p>
        </p:txBody>
      </p:sp>
    </p:spTree>
    <p:extLst>
      <p:ext uri="{BB962C8B-B14F-4D97-AF65-F5344CB8AC3E}">
        <p14:creationId xmlns:p14="http://schemas.microsoft.com/office/powerpoint/2010/main" val="2062313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a:p>
            <a:endParaRPr lang="en-CN" dirty="0"/>
          </a:p>
        </p:txBody>
      </p:sp>
      <p:sp>
        <p:nvSpPr>
          <p:cNvPr id="4" name="Slide Number Placeholder 3"/>
          <p:cNvSpPr>
            <a:spLocks noGrp="1"/>
          </p:cNvSpPr>
          <p:nvPr>
            <p:ph type="sldNum" sz="quarter" idx="5"/>
          </p:nvPr>
        </p:nvSpPr>
        <p:spPr/>
        <p:txBody>
          <a:bodyPr/>
          <a:lstStyle/>
          <a:p>
            <a:fld id="{2A2537B5-2B73-404C-90B3-3B24F910552D}" type="slidenum">
              <a:rPr lang="en-CN" smtClean="0"/>
              <a:t>2</a:t>
            </a:fld>
            <a:endParaRPr lang="en-CN"/>
          </a:p>
        </p:txBody>
      </p:sp>
    </p:spTree>
    <p:extLst>
      <p:ext uri="{BB962C8B-B14F-4D97-AF65-F5344CB8AC3E}">
        <p14:creationId xmlns:p14="http://schemas.microsoft.com/office/powerpoint/2010/main" val="600132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A2537B5-2B73-404C-90B3-3B24F910552D}" type="slidenum">
              <a:rPr lang="en-CN" smtClean="0"/>
              <a:t>3</a:t>
            </a:fld>
            <a:endParaRPr lang="en-CN"/>
          </a:p>
        </p:txBody>
      </p:sp>
    </p:spTree>
    <p:extLst>
      <p:ext uri="{BB962C8B-B14F-4D97-AF65-F5344CB8AC3E}">
        <p14:creationId xmlns:p14="http://schemas.microsoft.com/office/powerpoint/2010/main" val="351185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dirty="0"/>
              <a:t>multiplexer - selector switch</a:t>
            </a:r>
          </a:p>
        </p:txBody>
      </p:sp>
      <p:sp>
        <p:nvSpPr>
          <p:cNvPr id="4" name="Slide Number Placeholder 3"/>
          <p:cNvSpPr>
            <a:spLocks noGrp="1"/>
          </p:cNvSpPr>
          <p:nvPr>
            <p:ph type="sldNum" sz="quarter" idx="5"/>
          </p:nvPr>
        </p:nvSpPr>
        <p:spPr/>
        <p:txBody>
          <a:bodyPr/>
          <a:lstStyle/>
          <a:p>
            <a:fld id="{2A2537B5-2B73-404C-90B3-3B24F910552D}" type="slidenum">
              <a:rPr lang="en-CN" smtClean="0"/>
              <a:t>4</a:t>
            </a:fld>
            <a:endParaRPr lang="en-CN"/>
          </a:p>
        </p:txBody>
      </p:sp>
    </p:spTree>
    <p:extLst>
      <p:ext uri="{BB962C8B-B14F-4D97-AF65-F5344CB8AC3E}">
        <p14:creationId xmlns:p14="http://schemas.microsoft.com/office/powerpoint/2010/main" val="1424580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latin typeface="Calibri" panose="020F0502020204030204" pitchFamily="34" charset="0"/>
              <a:cs typeface="Calibri" panose="020F0502020204030204" pitchFamily="34" charset="0"/>
            </a:endParaRPr>
          </a:p>
          <a:p>
            <a:r>
              <a:rPr lang="en-CN" dirty="0">
                <a:latin typeface="Calibri" panose="020F0502020204030204" pitchFamily="34" charset="0"/>
                <a:cs typeface="Calibri" panose="020F0502020204030204" pitchFamily="34" charset="0"/>
              </a:rPr>
              <a:t>There are two ways to measure voltage:</a:t>
            </a:r>
          </a:p>
          <a:p>
            <a:pPr marL="285750" indent="-285750">
              <a:buFontTx/>
              <a:buChar char="-"/>
            </a:pPr>
            <a:r>
              <a:rPr lang="en-US" dirty="0">
                <a:latin typeface="Calibri" panose="020F0502020204030204" pitchFamily="34" charset="0"/>
                <a:cs typeface="Calibri" panose="020F0502020204030204" pitchFamily="34" charset="0"/>
              </a:rPr>
              <a:t>S</a:t>
            </a:r>
            <a:r>
              <a:rPr lang="en-CN" dirty="0">
                <a:latin typeface="Calibri" panose="020F0502020204030204" pitchFamily="34" charset="0"/>
                <a:cs typeface="Calibri" panose="020F0502020204030204" pitchFamily="34" charset="0"/>
              </a:rPr>
              <a:t>ingle ended: measure one point against ground -- ADC pins</a:t>
            </a:r>
          </a:p>
          <a:p>
            <a:pPr marL="285750" indent="-285750">
              <a:buFontTx/>
              <a:buChar char="-"/>
            </a:pPr>
            <a:r>
              <a:rPr lang="en-CN" dirty="0">
                <a:latin typeface="Calibri" panose="020F0502020204030204" pitchFamily="34" charset="0"/>
                <a:cs typeface="Calibri" panose="020F0502020204030204" pitchFamily="34" charset="0"/>
              </a:rPr>
              <a:t>Differential: measure the gap between two points, and don’t care about where either one is relative to ground</a:t>
            </a:r>
          </a:p>
          <a:p>
            <a:endParaRPr lang="en-CN" dirty="0"/>
          </a:p>
        </p:txBody>
      </p:sp>
      <p:sp>
        <p:nvSpPr>
          <p:cNvPr id="4" name="Slide Number Placeholder 3"/>
          <p:cNvSpPr>
            <a:spLocks noGrp="1"/>
          </p:cNvSpPr>
          <p:nvPr>
            <p:ph type="sldNum" sz="quarter" idx="5"/>
          </p:nvPr>
        </p:nvSpPr>
        <p:spPr/>
        <p:txBody>
          <a:bodyPr/>
          <a:lstStyle/>
          <a:p>
            <a:fld id="{2A2537B5-2B73-404C-90B3-3B24F910552D}" type="slidenum">
              <a:rPr lang="en-CN" smtClean="0"/>
              <a:t>5</a:t>
            </a:fld>
            <a:endParaRPr lang="en-CN"/>
          </a:p>
        </p:txBody>
      </p:sp>
    </p:spTree>
    <p:extLst>
      <p:ext uri="{BB962C8B-B14F-4D97-AF65-F5344CB8AC3E}">
        <p14:creationId xmlns:p14="http://schemas.microsoft.com/office/powerpoint/2010/main" val="2141973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A2537B5-2B73-404C-90B3-3B24F910552D}" type="slidenum">
              <a:rPr lang="en-CN" smtClean="0"/>
              <a:t>6</a:t>
            </a:fld>
            <a:endParaRPr lang="en-CN"/>
          </a:p>
        </p:txBody>
      </p:sp>
    </p:spTree>
    <p:extLst>
      <p:ext uri="{BB962C8B-B14F-4D97-AF65-F5344CB8AC3E}">
        <p14:creationId xmlns:p14="http://schemas.microsoft.com/office/powerpoint/2010/main" val="4222016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sensor connects to a shared wire, TEMP_HOT, through a diode — anode on the shared wire, cathode on the sensor. A 10 k pull-up lifts TEMP_HOT toward 3.3 V. Each diode lets its sensor pull the wire down but can't push it up. So the wire rises until it hits the lowest sensor and stops</a:t>
            </a:r>
          </a:p>
          <a:p>
            <a:r>
              <a:rPr lang="en-CN" dirty="0"/>
              <a:t>one of the diodes opens first and voltage holds at that level bc diode drains it as fast as resistor supplies it</a:t>
            </a:r>
          </a:p>
        </p:txBody>
      </p:sp>
      <p:sp>
        <p:nvSpPr>
          <p:cNvPr id="4" name="Slide Number Placeholder 3"/>
          <p:cNvSpPr>
            <a:spLocks noGrp="1"/>
          </p:cNvSpPr>
          <p:nvPr>
            <p:ph type="sldNum" sz="quarter" idx="5"/>
          </p:nvPr>
        </p:nvSpPr>
        <p:spPr/>
        <p:txBody>
          <a:bodyPr/>
          <a:lstStyle/>
          <a:p>
            <a:fld id="{2A2537B5-2B73-404C-90B3-3B24F910552D}" type="slidenum">
              <a:rPr lang="en-CN" smtClean="0"/>
              <a:t>7</a:t>
            </a:fld>
            <a:endParaRPr lang="en-CN"/>
          </a:p>
        </p:txBody>
      </p:sp>
    </p:spTree>
    <p:extLst>
      <p:ext uri="{BB962C8B-B14F-4D97-AF65-F5344CB8AC3E}">
        <p14:creationId xmlns:p14="http://schemas.microsoft.com/office/powerpoint/2010/main" val="1215231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Because the microcontroller speaks CAN </a:t>
            </a:r>
            <a:r>
              <a:rPr lang="en-US" i="1" dirty="0">
                <a:effectLst/>
              </a:rPr>
              <a:t>logic</a:t>
            </a:r>
            <a:r>
              <a:rPr lang="en-US" dirty="0">
                <a:effectLst/>
              </a:rPr>
              <a:t> but can't drive CAN </a:t>
            </a:r>
            <a:r>
              <a:rPr lang="en-US" i="1" dirty="0">
                <a:effectLst/>
              </a:rPr>
              <a:t>wire</a:t>
            </a:r>
            <a:r>
              <a:rPr lang="en-US" dirty="0">
                <a:effectLst/>
              </a:rPr>
              <a:t>.</a:t>
            </a:r>
          </a:p>
          <a:p>
            <a:endParaRPr lang="en-CN" dirty="0"/>
          </a:p>
        </p:txBody>
      </p:sp>
      <p:sp>
        <p:nvSpPr>
          <p:cNvPr id="4" name="Slide Number Placeholder 3"/>
          <p:cNvSpPr>
            <a:spLocks noGrp="1"/>
          </p:cNvSpPr>
          <p:nvPr>
            <p:ph type="sldNum" sz="quarter" idx="5"/>
          </p:nvPr>
        </p:nvSpPr>
        <p:spPr/>
        <p:txBody>
          <a:bodyPr/>
          <a:lstStyle/>
          <a:p>
            <a:fld id="{2A2537B5-2B73-404C-90B3-3B24F910552D}" type="slidenum">
              <a:rPr lang="en-CN" smtClean="0"/>
              <a:t>8</a:t>
            </a:fld>
            <a:endParaRPr lang="en-CN"/>
          </a:p>
        </p:txBody>
      </p:sp>
    </p:spTree>
    <p:extLst>
      <p:ext uri="{BB962C8B-B14F-4D97-AF65-F5344CB8AC3E}">
        <p14:creationId xmlns:p14="http://schemas.microsoft.com/office/powerpoint/2010/main" val="158641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relay contactors opens car loop</a:t>
            </a:r>
          </a:p>
          <a:p>
            <a:endParaRPr lang="en-CN" dirty="0"/>
          </a:p>
          <a:p>
            <a:r>
              <a:rPr lang="en-CN" dirty="0"/>
              <a:t>for regulation compliance</a:t>
            </a:r>
          </a:p>
        </p:txBody>
      </p:sp>
      <p:sp>
        <p:nvSpPr>
          <p:cNvPr id="4" name="Slide Number Placeholder 3"/>
          <p:cNvSpPr>
            <a:spLocks noGrp="1"/>
          </p:cNvSpPr>
          <p:nvPr>
            <p:ph type="sldNum" sz="quarter" idx="5"/>
          </p:nvPr>
        </p:nvSpPr>
        <p:spPr/>
        <p:txBody>
          <a:bodyPr/>
          <a:lstStyle/>
          <a:p>
            <a:fld id="{2A2537B5-2B73-404C-90B3-3B24F910552D}" type="slidenum">
              <a:rPr lang="en-CN" smtClean="0"/>
              <a:t>9</a:t>
            </a:fld>
            <a:endParaRPr lang="en-CN"/>
          </a:p>
        </p:txBody>
      </p:sp>
    </p:spTree>
    <p:extLst>
      <p:ext uri="{BB962C8B-B14F-4D97-AF65-F5344CB8AC3E}">
        <p14:creationId xmlns:p14="http://schemas.microsoft.com/office/powerpoint/2010/main" val="2785632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EV.7.2.3 says that once the BMS opens the shutdown circuit, it stays open until a person at the car manually resets it — and specifically, the driver can't do it from the seat, and neither the shutdown buttons nor the master switch can clear it.</a:t>
            </a:r>
          </a:p>
          <a:p>
            <a:endParaRPr lang="en-US" dirty="0"/>
          </a:p>
          <a:p>
            <a:r>
              <a:rPr lang="en-US" dirty="0"/>
              <a:t>Latch "not-fault" output sits at 3.3 V.</a:t>
            </a:r>
            <a:endParaRPr lang="en-CN" dirty="0"/>
          </a:p>
        </p:txBody>
      </p:sp>
      <p:sp>
        <p:nvSpPr>
          <p:cNvPr id="4" name="Slide Number Placeholder 3"/>
          <p:cNvSpPr>
            <a:spLocks noGrp="1"/>
          </p:cNvSpPr>
          <p:nvPr>
            <p:ph type="sldNum" sz="quarter" idx="5"/>
          </p:nvPr>
        </p:nvSpPr>
        <p:spPr/>
        <p:txBody>
          <a:bodyPr/>
          <a:lstStyle/>
          <a:p>
            <a:fld id="{2A2537B5-2B73-404C-90B3-3B24F910552D}" type="slidenum">
              <a:rPr lang="en-CN" smtClean="0"/>
              <a:t>10</a:t>
            </a:fld>
            <a:endParaRPr lang="en-CN"/>
          </a:p>
        </p:txBody>
      </p:sp>
    </p:spTree>
    <p:extLst>
      <p:ext uri="{BB962C8B-B14F-4D97-AF65-F5344CB8AC3E}">
        <p14:creationId xmlns:p14="http://schemas.microsoft.com/office/powerpoint/2010/main" val="3172948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
            </a:r>
            <a:r>
              <a:rPr lang="en-CN" dirty="0"/>
              <a:t>assive disspate heat: switch + resistor</a:t>
            </a:r>
          </a:p>
          <a:p>
            <a:endParaRPr lang="en-US" dirty="0"/>
          </a:p>
          <a:p>
            <a:r>
              <a:rPr lang="en-US" dirty="0"/>
              <a:t>Switched caps: A capacitor connected across a full cell charges up to its voltage. </a:t>
            </a:r>
          </a:p>
          <a:p>
            <a:r>
              <a:rPr lang="en-US" dirty="0"/>
              <a:t>Switch it across an empty cell; it's now higher than that cell, so it dumps charge in. Flip back and forth, thousands of times a second.</a:t>
            </a:r>
          </a:p>
          <a:p>
            <a:endParaRPr lang="en-US" dirty="0"/>
          </a:p>
          <a:p>
            <a:r>
              <a:rPr lang="en-US" dirty="0"/>
              <a:t>Pack-to-cell: feed a weak cell from the whole pack.</a:t>
            </a:r>
          </a:p>
          <a:p>
            <a:endParaRPr lang="en-US" dirty="0"/>
          </a:p>
          <a:p>
            <a:r>
              <a:rPr lang="en-US" dirty="0"/>
              <a:t>LTC3300</a:t>
            </a:r>
          </a:p>
          <a:p>
            <a:endParaRPr lang="en-US" dirty="0"/>
          </a:p>
          <a:p>
            <a:r>
              <a:rPr lang="en-US" dirty="0"/>
              <a:t>a DC/DC from the pack down to 12 V, then a constant-current buck routed to the weak cell through MOSFETs.</a:t>
            </a:r>
            <a:endParaRPr lang="en-CN" dirty="0"/>
          </a:p>
        </p:txBody>
      </p:sp>
      <p:sp>
        <p:nvSpPr>
          <p:cNvPr id="4" name="Slide Number Placeholder 3"/>
          <p:cNvSpPr>
            <a:spLocks noGrp="1"/>
          </p:cNvSpPr>
          <p:nvPr>
            <p:ph type="sldNum" sz="quarter" idx="5"/>
          </p:nvPr>
        </p:nvSpPr>
        <p:spPr/>
        <p:txBody>
          <a:bodyPr/>
          <a:lstStyle/>
          <a:p>
            <a:fld id="{2A2537B5-2B73-404C-90B3-3B24F910552D}" type="slidenum">
              <a:rPr lang="en-CN" smtClean="0"/>
              <a:t>11</a:t>
            </a:fld>
            <a:endParaRPr lang="en-CN"/>
          </a:p>
        </p:txBody>
      </p:sp>
    </p:spTree>
    <p:extLst>
      <p:ext uri="{BB962C8B-B14F-4D97-AF65-F5344CB8AC3E}">
        <p14:creationId xmlns:p14="http://schemas.microsoft.com/office/powerpoint/2010/main" val="415751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VOUT1–14 → 16:1 mux → ÷2 → VCELL → PA0</a:t>
            </a:r>
          </a:p>
          <a:p>
            <a:r>
              <a:rPr lang="en-US" dirty="0"/>
              <a:t>Then the follow-up: "So it's still sequential?" </a:t>
            </a:r>
            <a:r>
              <a:rPr lang="en-US" i="1" dirty="0"/>
              <a:t>sequenced by the ADC's ~20 µs sample time instead of a 20 </a:t>
            </a:r>
            <a:r>
              <a:rPr lang="en-US" i="1" dirty="0" err="1"/>
              <a:t>ms</a:t>
            </a:r>
            <a:r>
              <a:rPr lang="en-US" i="1" dirty="0"/>
              <a:t> capacitor settle. </a:t>
            </a:r>
          </a:p>
          <a:p>
            <a:endParaRPr lang="en-US" i="1" dirty="0"/>
          </a:p>
          <a:p>
            <a:endParaRPr lang="en-US" i="1" dirty="0"/>
          </a:p>
          <a:p>
            <a:r>
              <a:rPr lang="en-US" i="1" dirty="0"/>
              <a:t>Analog to digital converting: </a:t>
            </a:r>
          </a:p>
          <a:p>
            <a:pPr marL="171450" indent="-171450">
              <a:buFontTx/>
              <a:buChar char="-"/>
            </a:pPr>
            <a:r>
              <a:rPr lang="en-US" dirty="0"/>
              <a:t>ADC counts → volts (×2 for the divider)</a:t>
            </a:r>
          </a:p>
          <a:p>
            <a:pPr marL="171450" indent="-171450">
              <a:buFontTx/>
              <a:buChar char="-"/>
            </a:pPr>
            <a:r>
              <a:rPr lang="en-US" dirty="0"/>
              <a:t>ADC counts on the temperature pins → °C via the datasheet lookup table.</a:t>
            </a:r>
            <a:endParaRPr lang="en-US" i="1" dirty="0"/>
          </a:p>
          <a:p>
            <a:endParaRPr lang="en-US" i="1"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Balances. Finds the lowest cell, decides which are ahead, drives BAL_EN1–14, limits how many bleed at once, blanks the reading of a cell while it's bleeding, only balances when charging and when FAULT_N is high.</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Sequences the measurement: Sets the mux address, waits, triggers the ADC, moves to the next cell.</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rtl="0"/>
            <a:r>
              <a:rPr lang="en-US" b="1" dirty="0"/>
              <a:t>What it explicitly does not do</a:t>
            </a:r>
          </a:p>
          <a:p>
            <a:pPr rtl="0"/>
            <a:r>
              <a:rPr lang="en-US" dirty="0"/>
              <a:t>Open the shutdown circuit — no pin exists for it</a:t>
            </a:r>
          </a:p>
          <a:p>
            <a:pPr rtl="0"/>
            <a:r>
              <a:rPr lang="en-US" dirty="0"/>
              <a:t>Clear the latch — SW1 only</a:t>
            </a:r>
          </a:p>
          <a:p>
            <a:pPr rtl="0"/>
            <a:r>
              <a:rPr lang="en-US" dirty="0"/>
              <a:t>Hold the relay closed — Q1 is driven by the latch, not by a GPIO</a:t>
            </a:r>
          </a:p>
          <a:p>
            <a:pPr marL="0" marR="0" indent="0" algn="l" defTabSz="914400" rtl="0" eaLnBrk="1" fontAlgn="auto" latinLnBrk="0" hangingPunct="1">
              <a:lnSpc>
                <a:spcPct val="100000"/>
              </a:lnSpc>
              <a:spcBef>
                <a:spcPts val="0"/>
              </a:spcBef>
              <a:spcAft>
                <a:spcPts val="0"/>
              </a:spcAft>
              <a:buClrTx/>
              <a:buSzTx/>
              <a:buFontTx/>
              <a:buNone/>
              <a:tabLst/>
              <a:defRPr/>
            </a:pPr>
            <a:endParaRPr lang="en-CN" dirty="0"/>
          </a:p>
        </p:txBody>
      </p:sp>
      <p:sp>
        <p:nvSpPr>
          <p:cNvPr id="4" name="Slide Number Placeholder 3"/>
          <p:cNvSpPr>
            <a:spLocks noGrp="1"/>
          </p:cNvSpPr>
          <p:nvPr>
            <p:ph type="sldNum" sz="quarter" idx="5"/>
          </p:nvPr>
        </p:nvSpPr>
        <p:spPr/>
        <p:txBody>
          <a:bodyPr/>
          <a:lstStyle/>
          <a:p>
            <a:fld id="{2A2537B5-2B73-404C-90B3-3B24F910552D}" type="slidenum">
              <a:rPr lang="en-CN" smtClean="0"/>
              <a:t>12</a:t>
            </a:fld>
            <a:endParaRPr lang="en-CN"/>
          </a:p>
        </p:txBody>
      </p:sp>
    </p:spTree>
    <p:extLst>
      <p:ext uri="{BB962C8B-B14F-4D97-AF65-F5344CB8AC3E}">
        <p14:creationId xmlns:p14="http://schemas.microsoft.com/office/powerpoint/2010/main" val="1240320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itchFamily="2" charset="2"/>
            </a:endParaRPr>
          </a:p>
        </p:txBody>
      </p:sp>
      <p:sp>
        <p:nvSpPr>
          <p:cNvPr id="4" name="Slide Number Placeholder 3"/>
          <p:cNvSpPr>
            <a:spLocks noGrp="1"/>
          </p:cNvSpPr>
          <p:nvPr>
            <p:ph type="sldNum" sz="quarter" idx="5"/>
          </p:nvPr>
        </p:nvSpPr>
        <p:spPr/>
        <p:txBody>
          <a:bodyPr/>
          <a:lstStyle/>
          <a:p>
            <a:fld id="{2A2537B5-2B73-404C-90B3-3B24F910552D}" type="slidenum">
              <a:rPr lang="en-CN" smtClean="0"/>
              <a:t>13</a:t>
            </a:fld>
            <a:endParaRPr lang="en-CN"/>
          </a:p>
        </p:txBody>
      </p:sp>
    </p:spTree>
    <p:extLst>
      <p:ext uri="{BB962C8B-B14F-4D97-AF65-F5344CB8AC3E}">
        <p14:creationId xmlns:p14="http://schemas.microsoft.com/office/powerpoint/2010/main" val="3047406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131B8-1701-3B59-DCB4-9378A6F5D7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E991028E-39D9-0F64-7BA9-0DB48431F8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A51F07EA-6C6C-7F91-1593-A99EEAB972E8}"/>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5" name="Footer Placeholder 4">
            <a:extLst>
              <a:ext uri="{FF2B5EF4-FFF2-40B4-BE49-F238E27FC236}">
                <a16:creationId xmlns:a16="http://schemas.microsoft.com/office/drawing/2014/main" id="{EE85A929-783E-E003-E577-871F41998FE1}"/>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5E7C65B0-5DE4-A944-F12F-5CA67C361994}"/>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3886545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C76C7-6D14-C4E4-1017-CA132421A1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7F3C3340-D91C-FC82-31FD-E63EFCC954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F41DB8C-2660-A1AA-A0C3-350BD5F0F60E}"/>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5" name="Footer Placeholder 4">
            <a:extLst>
              <a:ext uri="{FF2B5EF4-FFF2-40B4-BE49-F238E27FC236}">
                <a16:creationId xmlns:a16="http://schemas.microsoft.com/office/drawing/2014/main" id="{EF2B27B6-852D-80BC-149B-7C103EDAEC86}"/>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14140A81-2FDB-03A3-3219-EFA85E43049D}"/>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795132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410F2-41FD-C5FD-C9C3-45B8CCB533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64F440E0-A224-D69F-A02D-B72940F62A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2D739F-0A9B-8DE2-6660-C4D6C13E36C1}"/>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5" name="Footer Placeholder 4">
            <a:extLst>
              <a:ext uri="{FF2B5EF4-FFF2-40B4-BE49-F238E27FC236}">
                <a16:creationId xmlns:a16="http://schemas.microsoft.com/office/drawing/2014/main" id="{41779E47-F3A6-7DB2-513A-AD5DEB5ABF6F}"/>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E6D241A7-FB0C-A368-DCA7-EABA342D691B}"/>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996665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21BBE-DED8-D464-8455-F62A2A8A03DE}"/>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DAE5A7D2-19BC-5F00-C597-3BD7C51EA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75E9957A-9AB9-3637-E814-6DB37ED545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EE392BC2-00F5-B34B-3916-AF3D3BFDA9BC}"/>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6" name="Footer Placeholder 5">
            <a:extLst>
              <a:ext uri="{FF2B5EF4-FFF2-40B4-BE49-F238E27FC236}">
                <a16:creationId xmlns:a16="http://schemas.microsoft.com/office/drawing/2014/main" id="{1B457950-2433-FBE6-641D-A4D1F10ABEC3}"/>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C5A1D37-F5DF-C5F4-F200-22333F45B25C}"/>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2111276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A777-731B-2A15-690C-EAD280E5A78A}"/>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3646C301-6375-F46F-60B0-B353263365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E31B67-308B-7A3F-16EF-A5E44FA09B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CA835D44-4730-DD07-6091-0066C86514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5545FD-E17E-D376-CF61-EC77AD7EA4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7BFA1B75-D9C2-E7B5-5EF1-606D9CAD2B2E}"/>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8" name="Footer Placeholder 7">
            <a:extLst>
              <a:ext uri="{FF2B5EF4-FFF2-40B4-BE49-F238E27FC236}">
                <a16:creationId xmlns:a16="http://schemas.microsoft.com/office/drawing/2014/main" id="{1CD6DE29-55D3-2FDE-CB5B-1C364F3708DC}"/>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EF75456E-ABA5-A966-EE8F-3683AA3B432D}"/>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105869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87494-443C-E920-6B34-905368BB2462}"/>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E2E8D0E2-568B-1710-954E-00829B169299}"/>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4" name="Footer Placeholder 3">
            <a:extLst>
              <a:ext uri="{FF2B5EF4-FFF2-40B4-BE49-F238E27FC236}">
                <a16:creationId xmlns:a16="http://schemas.microsoft.com/office/drawing/2014/main" id="{82FDE87B-53EF-CACC-C883-FD5FA196D1A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56DE695F-13E4-31C2-C228-67F25A94A6B0}"/>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3958181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4A9E72-2C71-9CE8-D0AD-84041C29D652}"/>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3" name="Footer Placeholder 2">
            <a:extLst>
              <a:ext uri="{FF2B5EF4-FFF2-40B4-BE49-F238E27FC236}">
                <a16:creationId xmlns:a16="http://schemas.microsoft.com/office/drawing/2014/main" id="{8881F50B-F3FC-B92C-D057-0A6DF24079AD}"/>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D9B3DE71-A681-3808-7344-64D91C6BD6D8}"/>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2065037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811FB-EB25-A85E-9ABF-CB92A45A1F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983DE849-7423-C2DC-DBE7-7C314CA254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21608B59-CE66-7591-485B-EB6D1C2FB8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ECD7B8-F64C-4FA4-F4FE-9CFB7C96EDDB}"/>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6" name="Footer Placeholder 5">
            <a:extLst>
              <a:ext uri="{FF2B5EF4-FFF2-40B4-BE49-F238E27FC236}">
                <a16:creationId xmlns:a16="http://schemas.microsoft.com/office/drawing/2014/main" id="{90F5D2D8-4C61-E3C2-9357-E24F69841491}"/>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AD71DE2C-D013-1158-BC43-C8B0C667CDE7}"/>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1733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BF54A-F844-605B-DD3E-49FBB898CF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212173B5-EEF9-F8E9-3C33-CBC0030D9E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N"/>
          </a:p>
        </p:txBody>
      </p:sp>
      <p:sp>
        <p:nvSpPr>
          <p:cNvPr id="4" name="Text Placeholder 3">
            <a:extLst>
              <a:ext uri="{FF2B5EF4-FFF2-40B4-BE49-F238E27FC236}">
                <a16:creationId xmlns:a16="http://schemas.microsoft.com/office/drawing/2014/main" id="{4134D606-B3E5-4615-7CE2-AC8214CEA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54A0F8-DC09-336C-4ED3-A5960A7E5699}"/>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6" name="Footer Placeholder 5">
            <a:extLst>
              <a:ext uri="{FF2B5EF4-FFF2-40B4-BE49-F238E27FC236}">
                <a16:creationId xmlns:a16="http://schemas.microsoft.com/office/drawing/2014/main" id="{A7F2AC5E-FC51-7E8E-E6AE-3C942CC5AFB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CC3CA067-C9A0-488B-1281-3CD672D78B6F}"/>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116121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3A9B2-9DA5-066D-172D-EC5D850A33D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D09E5153-BF87-5E66-8562-D25F2243F0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C30ACBE0-DBE7-8467-2544-498DFC6C6EB3}"/>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5" name="Footer Placeholder 4">
            <a:extLst>
              <a:ext uri="{FF2B5EF4-FFF2-40B4-BE49-F238E27FC236}">
                <a16:creationId xmlns:a16="http://schemas.microsoft.com/office/drawing/2014/main" id="{C40FD2D0-0B68-2496-9A97-775FA50441C8}"/>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811CD566-1A45-FFBC-51B2-938F66DA3084}"/>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184826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8A42ED-375F-3A62-A5AF-4B1B184855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8D5BCC62-DAE3-E14D-87D8-B4D386404B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2056D4E-D8FA-619E-88A8-B9781A9A2DBB}"/>
              </a:ext>
            </a:extLst>
          </p:cNvPr>
          <p:cNvSpPr>
            <a:spLocks noGrp="1"/>
          </p:cNvSpPr>
          <p:nvPr>
            <p:ph type="dt" sz="half" idx="10"/>
          </p:nvPr>
        </p:nvSpPr>
        <p:spPr/>
        <p:txBody>
          <a:bodyPr/>
          <a:lstStyle/>
          <a:p>
            <a:fld id="{7A784962-D0A3-4C4C-BAF7-33EB32CCA349}" type="datetimeFigureOut">
              <a:rPr lang="en-CN" smtClean="0"/>
              <a:t>2026/9/13</a:t>
            </a:fld>
            <a:endParaRPr lang="en-CN"/>
          </a:p>
        </p:txBody>
      </p:sp>
      <p:sp>
        <p:nvSpPr>
          <p:cNvPr id="5" name="Footer Placeholder 4">
            <a:extLst>
              <a:ext uri="{FF2B5EF4-FFF2-40B4-BE49-F238E27FC236}">
                <a16:creationId xmlns:a16="http://schemas.microsoft.com/office/drawing/2014/main" id="{34003DE2-A85B-41A1-6CAC-0603F6361361}"/>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F3CEB79C-89C6-96BB-D05A-6FE362DB5DF8}"/>
              </a:ext>
            </a:extLst>
          </p:cNvPr>
          <p:cNvSpPr>
            <a:spLocks noGrp="1"/>
          </p:cNvSpPr>
          <p:nvPr>
            <p:ph type="sldNum" sz="quarter" idx="12"/>
          </p:nvPr>
        </p:nvSpPr>
        <p:spPr/>
        <p:txBody>
          <a:bodyPr/>
          <a:lstStyle/>
          <a:p>
            <a:fld id="{28865AD2-90FC-E347-ABCE-17CAA1360BCD}" type="slidenum">
              <a:rPr lang="en-CN" smtClean="0"/>
              <a:t>‹#›</a:t>
            </a:fld>
            <a:endParaRPr lang="en-CN"/>
          </a:p>
        </p:txBody>
      </p:sp>
    </p:spTree>
    <p:extLst>
      <p:ext uri="{BB962C8B-B14F-4D97-AF65-F5344CB8AC3E}">
        <p14:creationId xmlns:p14="http://schemas.microsoft.com/office/powerpoint/2010/main" val="7604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8F3690-E07F-5BD1-3820-5A46BEA872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10337B68-5651-5C3D-F185-3038C51D40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126DAC20-854D-E9E6-A919-0D5731627C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784962-D0A3-4C4C-BAF7-33EB32CCA349}" type="datetimeFigureOut">
              <a:rPr lang="en-CN" smtClean="0"/>
              <a:t>2026/9/13</a:t>
            </a:fld>
            <a:endParaRPr lang="en-CN"/>
          </a:p>
        </p:txBody>
      </p:sp>
      <p:sp>
        <p:nvSpPr>
          <p:cNvPr id="5" name="Footer Placeholder 4">
            <a:extLst>
              <a:ext uri="{FF2B5EF4-FFF2-40B4-BE49-F238E27FC236}">
                <a16:creationId xmlns:a16="http://schemas.microsoft.com/office/drawing/2014/main" id="{0B548815-BC83-DD3B-825C-495B0B9DEB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N"/>
          </a:p>
        </p:txBody>
      </p:sp>
      <p:sp>
        <p:nvSpPr>
          <p:cNvPr id="6" name="Slide Number Placeholder 5">
            <a:extLst>
              <a:ext uri="{FF2B5EF4-FFF2-40B4-BE49-F238E27FC236}">
                <a16:creationId xmlns:a16="http://schemas.microsoft.com/office/drawing/2014/main" id="{F8FD2683-2152-77E0-3F55-EB9D960B22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865AD2-90FC-E347-ABCE-17CAA1360BCD}" type="slidenum">
              <a:rPr lang="en-CN" smtClean="0"/>
              <a:t>‹#›</a:t>
            </a:fld>
            <a:endParaRPr lang="en-CN"/>
          </a:p>
        </p:txBody>
      </p:sp>
    </p:spTree>
    <p:extLst>
      <p:ext uri="{BB962C8B-B14F-4D97-AF65-F5344CB8AC3E}">
        <p14:creationId xmlns:p14="http://schemas.microsoft.com/office/powerpoint/2010/main" val="927430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customXml" Target="../ink/ink2.xml"/><Relationship Id="rId12" Type="http://schemas.openxmlformats.org/officeDocument/2006/relationships/customXml" Target="../ink/ink4.xml"/><Relationship Id="rId2" Type="http://schemas.openxmlformats.org/officeDocument/2006/relationships/notesSlide" Target="../notesSlides/notesSlide5.xml"/><Relationship Id="rId16"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1.png"/><Relationship Id="rId5" Type="http://schemas.openxmlformats.org/officeDocument/2006/relationships/image" Target="../media/image17.png"/><Relationship Id="rId15" Type="http://schemas.openxmlformats.org/officeDocument/2006/relationships/image" Target="../media/image23.png"/><Relationship Id="rId10" Type="http://schemas.openxmlformats.org/officeDocument/2006/relationships/customXml" Target="../ink/ink3.xml"/><Relationship Id="rId4" Type="http://schemas.openxmlformats.org/officeDocument/2006/relationships/customXml" Target="../ink/ink1.xml"/><Relationship Id="rId9" Type="http://schemas.openxmlformats.org/officeDocument/2006/relationships/image" Target="../media/image10.png"/><Relationship Id="rId14" Type="http://schemas.openxmlformats.org/officeDocument/2006/relationships/customXml" Target="../ink/ink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8975A-D703-16FF-52CF-BE9CB11952A4}"/>
              </a:ext>
            </a:extLst>
          </p:cNvPr>
          <p:cNvSpPr>
            <a:spLocks noGrp="1"/>
          </p:cNvSpPr>
          <p:nvPr>
            <p:ph type="ctrTitle"/>
          </p:nvPr>
        </p:nvSpPr>
        <p:spPr/>
        <p:txBody>
          <a:bodyPr/>
          <a:lstStyle/>
          <a:p>
            <a:r>
              <a:rPr lang="en-CN" dirty="0">
                <a:latin typeface="Calibri" panose="020F0502020204030204" pitchFamily="34" charset="0"/>
                <a:cs typeface="Calibri" panose="020F0502020204030204" pitchFamily="34" charset="0"/>
              </a:rPr>
              <a:t>Accumulator EE</a:t>
            </a:r>
          </a:p>
        </p:txBody>
      </p:sp>
      <p:sp>
        <p:nvSpPr>
          <p:cNvPr id="3" name="Subtitle 2">
            <a:extLst>
              <a:ext uri="{FF2B5EF4-FFF2-40B4-BE49-F238E27FC236}">
                <a16:creationId xmlns:a16="http://schemas.microsoft.com/office/drawing/2014/main" id="{E4299259-A723-3471-F7D3-D837001F8841}"/>
              </a:ext>
            </a:extLst>
          </p:cNvPr>
          <p:cNvSpPr>
            <a:spLocks noGrp="1"/>
          </p:cNvSpPr>
          <p:nvPr>
            <p:ph type="subTitle" idx="1"/>
          </p:nvPr>
        </p:nvSpPr>
        <p:spPr/>
        <p:txBody>
          <a:bodyPr/>
          <a:lstStyle/>
          <a:p>
            <a:r>
              <a:rPr lang="en-CN" dirty="0">
                <a:latin typeface="Calibri" panose="020F0502020204030204" pitchFamily="34" charset="0"/>
                <a:cs typeface="Calibri" panose="020F0502020204030204" pitchFamily="34" charset="0"/>
              </a:rPr>
              <a:t>Katherine Chen</a:t>
            </a:r>
          </a:p>
          <a:p>
            <a:r>
              <a:rPr lang="en-CN" dirty="0">
                <a:latin typeface="Calibri" panose="020F0502020204030204" pitchFamily="34" charset="0"/>
                <a:cs typeface="Calibri" panose="020F0502020204030204" pitchFamily="34" charset="0"/>
              </a:rPr>
              <a:t>BMS BMS BMS BMS BMS</a:t>
            </a:r>
          </a:p>
        </p:txBody>
      </p:sp>
      <p:pic>
        <p:nvPicPr>
          <p:cNvPr id="5" name="Picture 4" descr="A collage of a person&#10;&#10;AI-generated content may be incorrect.">
            <a:extLst>
              <a:ext uri="{FF2B5EF4-FFF2-40B4-BE49-F238E27FC236}">
                <a16:creationId xmlns:a16="http://schemas.microsoft.com/office/drawing/2014/main" id="{15F52612-1323-ACEB-BA6C-1AF66C6FBD99}"/>
              </a:ext>
            </a:extLst>
          </p:cNvPr>
          <p:cNvPicPr>
            <a:picLocks noChangeAspect="1"/>
          </p:cNvPicPr>
          <p:nvPr/>
        </p:nvPicPr>
        <p:blipFill>
          <a:blip r:embed="rId2"/>
          <a:stretch>
            <a:fillRect/>
          </a:stretch>
        </p:blipFill>
        <p:spPr>
          <a:xfrm>
            <a:off x="8977746" y="262909"/>
            <a:ext cx="2840182" cy="2993053"/>
          </a:xfrm>
          <a:prstGeom prst="rect">
            <a:avLst/>
          </a:prstGeom>
        </p:spPr>
      </p:pic>
      <p:pic>
        <p:nvPicPr>
          <p:cNvPr id="7" name="Picture 6" descr="A comic of a person in a courtroom&#10;&#10;AI-generated content may be incorrect.">
            <a:extLst>
              <a:ext uri="{FF2B5EF4-FFF2-40B4-BE49-F238E27FC236}">
                <a16:creationId xmlns:a16="http://schemas.microsoft.com/office/drawing/2014/main" id="{BEC76F5E-5E64-717C-C352-362B452AD655}"/>
              </a:ext>
            </a:extLst>
          </p:cNvPr>
          <p:cNvPicPr>
            <a:picLocks noChangeAspect="1"/>
          </p:cNvPicPr>
          <p:nvPr/>
        </p:nvPicPr>
        <p:blipFill>
          <a:blip r:embed="rId3"/>
          <a:stretch>
            <a:fillRect/>
          </a:stretch>
        </p:blipFill>
        <p:spPr>
          <a:xfrm>
            <a:off x="528783" y="4126076"/>
            <a:ext cx="3884781" cy="2263447"/>
          </a:xfrm>
          <a:prstGeom prst="rect">
            <a:avLst/>
          </a:prstGeom>
        </p:spPr>
      </p:pic>
    </p:spTree>
    <p:extLst>
      <p:ext uri="{BB962C8B-B14F-4D97-AF65-F5344CB8AC3E}">
        <p14:creationId xmlns:p14="http://schemas.microsoft.com/office/powerpoint/2010/main" val="1148696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81E0F-AC96-97C8-CB38-547084B29B93}"/>
              </a:ext>
            </a:extLst>
          </p:cNvPr>
          <p:cNvSpPr>
            <a:spLocks noGrp="1"/>
          </p:cNvSpPr>
          <p:nvPr>
            <p:ph type="title"/>
          </p:nvPr>
        </p:nvSpPr>
        <p:spPr/>
        <p:txBody>
          <a:bodyPr>
            <a:normAutofit/>
          </a:bodyPr>
          <a:lstStyle/>
          <a:p>
            <a:r>
              <a:rPr lang="en-CN" sz="3000" dirty="0">
                <a:latin typeface="Calibri" panose="020F0502020204030204" pitchFamily="34" charset="0"/>
                <a:cs typeface="Calibri" panose="020F0502020204030204" pitchFamily="34" charset="0"/>
              </a:rPr>
              <a:t>System Architecture </a:t>
            </a:r>
          </a:p>
        </p:txBody>
      </p:sp>
      <p:pic>
        <p:nvPicPr>
          <p:cNvPr id="5" name="Content Placeholder 4" descr="A screenshot of a computer&#10;&#10;AI-generated content may be incorrect.">
            <a:extLst>
              <a:ext uri="{FF2B5EF4-FFF2-40B4-BE49-F238E27FC236}">
                <a16:creationId xmlns:a16="http://schemas.microsoft.com/office/drawing/2014/main" id="{10701E3B-3D49-F194-6F05-B2D191AC1F99}"/>
              </a:ext>
            </a:extLst>
          </p:cNvPr>
          <p:cNvPicPr>
            <a:picLocks noGrp="1" noChangeAspect="1"/>
          </p:cNvPicPr>
          <p:nvPr>
            <p:ph idx="1"/>
          </p:nvPr>
        </p:nvPicPr>
        <p:blipFill>
          <a:blip r:embed="rId3"/>
          <a:stretch>
            <a:fillRect/>
          </a:stretch>
        </p:blipFill>
        <p:spPr>
          <a:xfrm>
            <a:off x="838200" y="4618560"/>
            <a:ext cx="2485047" cy="1874315"/>
          </a:xfrm>
        </p:spPr>
      </p:pic>
      <p:pic>
        <p:nvPicPr>
          <p:cNvPr id="7" name="Picture 6" descr="A computer diagram of a computer&#10;&#10;AI-generated content may be incorrect.">
            <a:extLst>
              <a:ext uri="{FF2B5EF4-FFF2-40B4-BE49-F238E27FC236}">
                <a16:creationId xmlns:a16="http://schemas.microsoft.com/office/drawing/2014/main" id="{88866FEC-B022-6AF5-E0E0-99BC19A5C24B}"/>
              </a:ext>
            </a:extLst>
          </p:cNvPr>
          <p:cNvPicPr>
            <a:picLocks noChangeAspect="1"/>
          </p:cNvPicPr>
          <p:nvPr/>
        </p:nvPicPr>
        <p:blipFill>
          <a:blip r:embed="rId4"/>
          <a:stretch>
            <a:fillRect/>
          </a:stretch>
        </p:blipFill>
        <p:spPr>
          <a:xfrm>
            <a:off x="838199" y="1227119"/>
            <a:ext cx="4729971" cy="3326157"/>
          </a:xfrm>
          <a:prstGeom prst="rect">
            <a:avLst/>
          </a:prstGeom>
        </p:spPr>
      </p:pic>
      <p:sp>
        <p:nvSpPr>
          <p:cNvPr id="8" name="TextBox 7">
            <a:extLst>
              <a:ext uri="{FF2B5EF4-FFF2-40B4-BE49-F238E27FC236}">
                <a16:creationId xmlns:a16="http://schemas.microsoft.com/office/drawing/2014/main" id="{E0B7D91A-60E9-E55F-66E0-BC9D6E13B3B6}"/>
              </a:ext>
            </a:extLst>
          </p:cNvPr>
          <p:cNvSpPr txBox="1"/>
          <p:nvPr/>
        </p:nvSpPr>
        <p:spPr>
          <a:xfrm>
            <a:off x="5861830" y="1227119"/>
            <a:ext cx="5288770" cy="4247317"/>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Project Overview: </a:t>
            </a:r>
          </a:p>
          <a:p>
            <a:r>
              <a:rPr lang="en-US" dirty="0">
                <a:latin typeface="Calibri" panose="020F0502020204030204" pitchFamily="34" charset="0"/>
                <a:cs typeface="Calibri" panose="020F0502020204030204" pitchFamily="34" charset="0"/>
              </a:rPr>
              <a:t>BMS for one 14s4p segment: </a:t>
            </a:r>
            <a:r>
              <a:rPr lang="en-US" dirty="0" err="1">
                <a:latin typeface="Calibri" panose="020F0502020204030204" pitchFamily="34" charset="0"/>
                <a:cs typeface="Calibri" panose="020F0502020204030204" pitchFamily="34" charset="0"/>
              </a:rPr>
              <a:t>Enepaq</a:t>
            </a:r>
            <a:r>
              <a:rPr lang="en-US" dirty="0">
                <a:latin typeface="Calibri" panose="020F0502020204030204" pitchFamily="34" charset="0"/>
                <a:cs typeface="Calibri" panose="020F0502020204030204" pitchFamily="34" charset="0"/>
              </a:rPr>
              <a:t> 1x4p modules 35–58.8 V  ~10 Ah</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A BMS must: measure every cell, measure temperature, open the shutdown circuit on a fault, balance, report</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Every cell needs to be measured </a:t>
            </a:r>
            <a:r>
              <a:rPr lang="en-US" dirty="0" err="1">
                <a:latin typeface="Calibri" panose="020F0502020204030204" pitchFamily="34" charset="0"/>
                <a:cs typeface="Calibri" panose="020F0502020204030204" pitchFamily="34" charset="0"/>
              </a:rPr>
              <a:t>bc</a:t>
            </a:r>
            <a:r>
              <a:rPr lang="en-US" dirty="0">
                <a:latin typeface="Calibri" panose="020F0502020204030204" pitchFamily="34" charset="0"/>
                <a:cs typeface="Calibri" panose="020F0502020204030204" pitchFamily="34" charset="0"/>
              </a:rPr>
              <a:t>:</a:t>
            </a:r>
          </a:p>
          <a:p>
            <a:r>
              <a:rPr lang="en-US" dirty="0">
                <a:latin typeface="Calibri" panose="020F0502020204030204" pitchFamily="34" charset="0"/>
                <a:cs typeface="Calibri" panose="020F0502020204030204" pitchFamily="34" charset="0"/>
              </a:rPr>
              <a:t>The pack voltage hides the worst cell. </a:t>
            </a:r>
          </a:p>
          <a:p>
            <a:r>
              <a:rPr lang="en-US" dirty="0">
                <a:latin typeface="Calibri" panose="020F0502020204030204" pitchFamily="34" charset="0"/>
                <a:cs typeface="Calibri" panose="020F0502020204030204" pitchFamily="34" charset="0"/>
              </a:rPr>
              <a:t>50 V = 30 healthy cells + 1 at 2.1 V</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No dedicated BMS chip.</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Reference FSAE_Rules_2026_V1 regulations</a:t>
            </a:r>
            <a:endParaRPr lang="en-C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7767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1CB59-290C-B9C3-F1D5-342FA20EEB06}"/>
              </a:ext>
            </a:extLst>
          </p:cNvPr>
          <p:cNvSpPr>
            <a:spLocks noGrp="1"/>
          </p:cNvSpPr>
          <p:nvPr>
            <p:ph type="title"/>
          </p:nvPr>
        </p:nvSpPr>
        <p:spPr>
          <a:xfrm>
            <a:off x="838200" y="254610"/>
            <a:ext cx="10515600" cy="1325563"/>
          </a:xfrm>
        </p:spPr>
        <p:txBody>
          <a:bodyPr>
            <a:normAutofit/>
          </a:bodyPr>
          <a:lstStyle/>
          <a:p>
            <a:r>
              <a:rPr lang="en-CN" sz="3000" dirty="0">
                <a:latin typeface="Calibri" panose="020F0502020204030204" pitchFamily="34" charset="0"/>
                <a:cs typeface="Calibri" panose="020F0502020204030204" pitchFamily="34" charset="0"/>
              </a:rPr>
              <a:t>Block Diagram</a:t>
            </a:r>
          </a:p>
        </p:txBody>
      </p:sp>
      <p:pic>
        <p:nvPicPr>
          <p:cNvPr id="5" name="Content Placeholder 4" descr="A diagram of a computer system&#10;&#10;AI-generated content may be incorrect.">
            <a:extLst>
              <a:ext uri="{FF2B5EF4-FFF2-40B4-BE49-F238E27FC236}">
                <a16:creationId xmlns:a16="http://schemas.microsoft.com/office/drawing/2014/main" id="{438091D5-1633-46B4-FA19-F60C92FB9484}"/>
              </a:ext>
            </a:extLst>
          </p:cNvPr>
          <p:cNvPicPr>
            <a:picLocks noGrp="1" noChangeAspect="1"/>
          </p:cNvPicPr>
          <p:nvPr>
            <p:ph idx="1"/>
          </p:nvPr>
        </p:nvPicPr>
        <p:blipFill>
          <a:blip r:embed="rId3"/>
          <a:stretch>
            <a:fillRect/>
          </a:stretch>
        </p:blipFill>
        <p:spPr>
          <a:xfrm>
            <a:off x="0" y="1179940"/>
            <a:ext cx="12658725" cy="5372161"/>
          </a:xfrm>
        </p:spPr>
      </p:pic>
      <p:sp>
        <p:nvSpPr>
          <p:cNvPr id="6" name="TextBox 5">
            <a:extLst>
              <a:ext uri="{FF2B5EF4-FFF2-40B4-BE49-F238E27FC236}">
                <a16:creationId xmlns:a16="http://schemas.microsoft.com/office/drawing/2014/main" id="{D0BF290D-3B36-8E0A-6FFD-64F6DF627BD2}"/>
              </a:ext>
            </a:extLst>
          </p:cNvPr>
          <p:cNvSpPr txBox="1"/>
          <p:nvPr/>
        </p:nvSpPr>
        <p:spPr>
          <a:xfrm>
            <a:off x="9660489" y="5016561"/>
            <a:ext cx="2299797" cy="830997"/>
          </a:xfrm>
          <a:prstGeom prst="rect">
            <a:avLst/>
          </a:prstGeom>
          <a:noFill/>
        </p:spPr>
        <p:txBody>
          <a:bodyPr wrap="square" rtlCol="0">
            <a:spAutoFit/>
          </a:bodyPr>
          <a:lstStyle/>
          <a:p>
            <a:r>
              <a:rPr lang="en-CN" sz="1600" dirty="0">
                <a:solidFill>
                  <a:srgbClr val="FF0000"/>
                </a:solidFill>
                <a:latin typeface="Calibri" panose="020F0502020204030204" pitchFamily="34" charset="0"/>
                <a:cs typeface="Calibri" panose="020F0502020204030204" pitchFamily="34" charset="0"/>
              </a:rPr>
              <a:t>Red rail – safety</a:t>
            </a:r>
          </a:p>
          <a:p>
            <a:r>
              <a:rPr lang="en-CN" sz="1600" dirty="0">
                <a:solidFill>
                  <a:schemeClr val="tx2">
                    <a:lumMod val="75000"/>
                    <a:lumOff val="25000"/>
                  </a:schemeClr>
                </a:solidFill>
                <a:latin typeface="Calibri" panose="020F0502020204030204" pitchFamily="34" charset="0"/>
                <a:cs typeface="Calibri" panose="020F0502020204030204" pitchFamily="34" charset="0"/>
              </a:rPr>
              <a:t>Blue rail – measurement</a:t>
            </a:r>
          </a:p>
          <a:p>
            <a:r>
              <a:rPr lang="en-CN" sz="1600" dirty="0">
                <a:latin typeface="Calibri" panose="020F0502020204030204" pitchFamily="34" charset="0"/>
                <a:cs typeface="Calibri" panose="020F0502020204030204" pitchFamily="34" charset="0"/>
              </a:rPr>
              <a:t>Black rail -- control</a:t>
            </a:r>
          </a:p>
        </p:txBody>
      </p:sp>
    </p:spTree>
    <p:extLst>
      <p:ext uri="{BB962C8B-B14F-4D97-AF65-F5344CB8AC3E}">
        <p14:creationId xmlns:p14="http://schemas.microsoft.com/office/powerpoint/2010/main" val="2027776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60AE3-D6BB-35A4-DC5B-9CFD3943AAE3}"/>
              </a:ext>
            </a:extLst>
          </p:cNvPr>
          <p:cNvSpPr>
            <a:spLocks noGrp="1"/>
          </p:cNvSpPr>
          <p:nvPr>
            <p:ph type="title"/>
          </p:nvPr>
        </p:nvSpPr>
        <p:spPr/>
        <p:txBody>
          <a:bodyPr>
            <a:normAutofit/>
          </a:bodyPr>
          <a:lstStyle/>
          <a:p>
            <a:r>
              <a:rPr lang="en-CN" sz="3000" dirty="0">
                <a:latin typeface="Calibri" panose="020F0502020204030204" pitchFamily="34" charset="0"/>
                <a:cs typeface="Calibri" panose="020F0502020204030204" pitchFamily="34" charset="0"/>
              </a:rPr>
              <a:t>Cell Voltage – Initial solution</a:t>
            </a:r>
          </a:p>
        </p:txBody>
      </p:sp>
      <p:pic>
        <p:nvPicPr>
          <p:cNvPr id="5" name="Content Placeholder 4" descr="A diagram of a cell voltage&#10;&#10;AI-generated content may be incorrect.">
            <a:extLst>
              <a:ext uri="{FF2B5EF4-FFF2-40B4-BE49-F238E27FC236}">
                <a16:creationId xmlns:a16="http://schemas.microsoft.com/office/drawing/2014/main" id="{8501CFB8-CD65-5FEC-6110-15BF59D5D0C8}"/>
              </a:ext>
            </a:extLst>
          </p:cNvPr>
          <p:cNvPicPr>
            <a:picLocks noGrp="1" noChangeAspect="1"/>
          </p:cNvPicPr>
          <p:nvPr>
            <p:ph idx="1"/>
          </p:nvPr>
        </p:nvPicPr>
        <p:blipFill>
          <a:blip r:embed="rId3"/>
          <a:stretch>
            <a:fillRect/>
          </a:stretch>
        </p:blipFill>
        <p:spPr>
          <a:xfrm>
            <a:off x="838199" y="1253330"/>
            <a:ext cx="4449779" cy="4524315"/>
          </a:xfrm>
        </p:spPr>
      </p:pic>
      <p:sp>
        <p:nvSpPr>
          <p:cNvPr id="6" name="TextBox 5">
            <a:extLst>
              <a:ext uri="{FF2B5EF4-FFF2-40B4-BE49-F238E27FC236}">
                <a16:creationId xmlns:a16="http://schemas.microsoft.com/office/drawing/2014/main" id="{94DBBCB5-DC14-244C-6B58-E36468CD0F51}"/>
              </a:ext>
            </a:extLst>
          </p:cNvPr>
          <p:cNvSpPr txBox="1"/>
          <p:nvPr/>
        </p:nvSpPr>
        <p:spPr>
          <a:xfrm>
            <a:off x="5528218" y="1253330"/>
            <a:ext cx="6340142" cy="5324535"/>
          </a:xfrm>
          <a:prstGeom prst="rect">
            <a:avLst/>
          </a:prstGeom>
          <a:noFill/>
        </p:spPr>
        <p:txBody>
          <a:bodyPr wrap="square" rtlCol="0">
            <a:spAutoFit/>
          </a:bodyPr>
          <a:lstStyle/>
          <a:p>
            <a:r>
              <a:rPr lang="en-CN" sz="2000" b="1" dirty="0">
                <a:latin typeface="Calibri" panose="020F0502020204030204" pitchFamily="34" charset="0"/>
                <a:cs typeface="Calibri" panose="020F0502020204030204" pitchFamily="34" charset="0"/>
              </a:rPr>
              <a:t>The idea: </a:t>
            </a:r>
            <a:r>
              <a:rPr lang="en-US" sz="2000" b="1" dirty="0">
                <a:latin typeface="Calibri" panose="020F0502020204030204" pitchFamily="34" charset="0"/>
                <a:cs typeface="Calibri" panose="020F0502020204030204" pitchFamily="34" charset="0"/>
              </a:rPr>
              <a:t>Flying Capacitor</a:t>
            </a:r>
          </a:p>
          <a:p>
            <a:endParaRPr lang="en-US" sz="2000" b="1"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Cell 14's terminals sit at 50–54 V; ADC reads 0–3.3 V against its own ground</a:t>
            </a:r>
          </a:p>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Muxes connect a capacitor across one cell → disconnect both ends → connect it to ground and the ADC. It holds the cell voltage with no memory of where it was</a:t>
            </a:r>
          </a:p>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One shared path → one gain error, common to all cells. </a:t>
            </a:r>
          </a:p>
          <a:p>
            <a:endParaRPr lang="en-US" sz="2000" dirty="0">
              <a:latin typeface="Calibri" panose="020F0502020204030204" pitchFamily="34" charset="0"/>
              <a:cs typeface="Calibri" panose="020F0502020204030204" pitchFamily="34" charset="0"/>
            </a:endParaRPr>
          </a:p>
          <a:p>
            <a:r>
              <a:rPr lang="en-CN" sz="2000" dirty="0">
                <a:latin typeface="Calibri" panose="020F0502020204030204" pitchFamily="34" charset="0"/>
                <a:cs typeface="Calibri" panose="020F0502020204030204" pitchFamily="34" charset="0"/>
              </a:rPr>
              <a:t>Problem:</a:t>
            </a:r>
          </a:p>
          <a:p>
            <a:pPr marL="285750" indent="-285750">
              <a:buFontTx/>
              <a:buChar char="-"/>
            </a:pPr>
            <a:r>
              <a:rPr lang="en-CN" sz="2000" dirty="0">
                <a:latin typeface="Calibri" panose="020F0502020204030204" pitchFamily="34" charset="0"/>
                <a:cs typeface="Calibri" panose="020F0502020204030204" pitchFamily="34" charset="0"/>
              </a:rPr>
              <a:t>We can NOT get all 14 series cells at once </a:t>
            </a:r>
            <a:r>
              <a:rPr lang="en-CN" sz="2000" dirty="0">
                <a:latin typeface="Calibri" panose="020F0502020204030204" pitchFamily="34" charset="0"/>
                <a:cs typeface="Calibri" panose="020F0502020204030204" pitchFamily="34" charset="0"/>
                <a:sym typeface="Wingdings" pitchFamily="2" charset="2"/>
              </a:rPr>
              <a:t> sequential</a:t>
            </a:r>
          </a:p>
          <a:p>
            <a:pPr marL="285750" indent="-285750">
              <a:buFontTx/>
              <a:buChar char="-"/>
            </a:pPr>
            <a:r>
              <a:rPr lang="en-US" sz="2000" dirty="0">
                <a:latin typeface="Calibri" panose="020F0502020204030204" pitchFamily="34" charset="0"/>
                <a:cs typeface="Calibri" panose="020F0502020204030204" pitchFamily="34" charset="0"/>
                <a:sym typeface="Wingdings" pitchFamily="2" charset="2"/>
              </a:rPr>
              <a:t>C</a:t>
            </a:r>
            <a:r>
              <a:rPr lang="en-CN" sz="2000" dirty="0">
                <a:latin typeface="Calibri" panose="020F0502020204030204" pitchFamily="34" charset="0"/>
                <a:cs typeface="Calibri" panose="020F0502020204030204" pitchFamily="34" charset="0"/>
                <a:sym typeface="Wingdings" pitchFamily="2" charset="2"/>
              </a:rPr>
              <a:t>apacitor starts at different capacitance everytime</a:t>
            </a:r>
            <a:endParaRPr lang="en-CN"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pPr marL="285750" indent="-285750">
              <a:buFontTx/>
              <a:buChar char="-"/>
            </a:pPr>
            <a:endParaRPr lang="en-CN" sz="2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706C0B5-CFFA-CD9E-7BE8-FF7639179A3C}"/>
              </a:ext>
            </a:extLst>
          </p:cNvPr>
          <p:cNvSpPr txBox="1"/>
          <p:nvPr/>
        </p:nvSpPr>
        <p:spPr>
          <a:xfrm>
            <a:off x="1852175" y="5777645"/>
            <a:ext cx="2406684" cy="369332"/>
          </a:xfrm>
          <a:prstGeom prst="rect">
            <a:avLst/>
          </a:prstGeom>
          <a:noFill/>
        </p:spPr>
        <p:txBody>
          <a:bodyPr wrap="none" rtlCol="0">
            <a:spAutoFit/>
          </a:bodyPr>
          <a:lstStyle/>
          <a:p>
            <a:r>
              <a:rPr lang="en-CN" dirty="0"/>
              <a:t>This is for 6S modules!</a:t>
            </a:r>
          </a:p>
        </p:txBody>
      </p:sp>
    </p:spTree>
    <p:extLst>
      <p:ext uri="{BB962C8B-B14F-4D97-AF65-F5344CB8AC3E}">
        <p14:creationId xmlns:p14="http://schemas.microsoft.com/office/powerpoint/2010/main" val="1017646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C9975-3127-05AC-4509-F4B7042D3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71802-08B4-86F9-D63A-6CD277291065}"/>
              </a:ext>
            </a:extLst>
          </p:cNvPr>
          <p:cNvSpPr>
            <a:spLocks noGrp="1"/>
          </p:cNvSpPr>
          <p:nvPr>
            <p:ph type="title"/>
          </p:nvPr>
        </p:nvSpPr>
        <p:spPr/>
        <p:txBody>
          <a:bodyPr>
            <a:normAutofit/>
          </a:bodyPr>
          <a:lstStyle/>
          <a:p>
            <a:r>
              <a:rPr lang="en-CN" sz="3000" dirty="0">
                <a:latin typeface="Calibri" panose="020F0502020204030204" pitchFamily="34" charset="0"/>
                <a:cs typeface="Calibri" panose="020F0502020204030204" pitchFamily="34" charset="0"/>
              </a:rPr>
              <a:t>Cell Voltage – optimized version …</a:t>
            </a:r>
          </a:p>
        </p:txBody>
      </p:sp>
      <p:sp>
        <p:nvSpPr>
          <p:cNvPr id="3" name="TextBox 2">
            <a:extLst>
              <a:ext uri="{FF2B5EF4-FFF2-40B4-BE49-F238E27FC236}">
                <a16:creationId xmlns:a16="http://schemas.microsoft.com/office/drawing/2014/main" id="{3904AAE3-3783-5BFD-E060-E7E4C2009623}"/>
              </a:ext>
            </a:extLst>
          </p:cNvPr>
          <p:cNvSpPr txBox="1"/>
          <p:nvPr/>
        </p:nvSpPr>
        <p:spPr>
          <a:xfrm>
            <a:off x="7126996" y="1352102"/>
            <a:ext cx="5933626" cy="5324535"/>
          </a:xfrm>
          <a:prstGeom prst="rect">
            <a:avLst/>
          </a:prstGeom>
          <a:noFill/>
        </p:spPr>
        <p:txBody>
          <a:bodyPr wrap="square" rtlCol="0">
            <a:spAutoFit/>
          </a:bodyPr>
          <a:lstStyle/>
          <a:p>
            <a:r>
              <a:rPr lang="en-CN" sz="2000" b="1" dirty="0">
                <a:latin typeface="Calibri" panose="020F0502020204030204" pitchFamily="34" charset="0"/>
                <a:cs typeface="Calibri" panose="020F0502020204030204" pitchFamily="34" charset="0"/>
              </a:rPr>
              <a:t>The idea: Differential Sensing</a:t>
            </a:r>
          </a:p>
          <a:p>
            <a:endParaRPr lang="en-CN"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One difference amplifier per cell </a:t>
            </a:r>
          </a:p>
          <a:p>
            <a:r>
              <a:rPr lang="en-US" sz="2000" dirty="0">
                <a:latin typeface="Calibri" panose="020F0502020204030204" pitchFamily="34" charset="0"/>
                <a:cs typeface="Calibri" panose="020F0502020204030204" pitchFamily="34" charset="0"/>
                <a:sym typeface="Wingdings" pitchFamily="2" charset="2"/>
              </a:rPr>
              <a:t>     measure all cells at same time</a:t>
            </a:r>
            <a:endParaRPr 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inputs straight on the two terminals</a:t>
            </a:r>
          </a:p>
          <a:p>
            <a:r>
              <a:rPr lang="en-US" sz="2000" dirty="0">
                <a:latin typeface="Calibri" panose="020F0502020204030204" pitchFamily="34" charset="0"/>
                <a:cs typeface="Calibri" panose="020F0502020204030204" pitchFamily="34" charset="0"/>
              </a:rPr>
              <a:t>      </a:t>
            </a:r>
            <a:r>
              <a:rPr lang="en-US" sz="2000" dirty="0">
                <a:highlight>
                  <a:srgbClr val="FFFF00"/>
                </a:highlight>
                <a:latin typeface="Calibri" panose="020F0502020204030204" pitchFamily="34" charset="0"/>
                <a:cs typeface="Calibri" panose="020F0502020204030204" pitchFamily="34" charset="0"/>
              </a:rPr>
              <a:t>Output = (CELL k+1) − (CELL k)</a:t>
            </a:r>
            <a:endParaRPr lang="en-CN" sz="2000" dirty="0">
              <a:highlight>
                <a:srgbClr val="FFFF00"/>
              </a:highlight>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A</a:t>
            </a:r>
            <a:r>
              <a:rPr lang="en-CN" sz="2000" dirty="0">
                <a:latin typeface="Calibri" panose="020F0502020204030204" pitchFamily="34" charset="0"/>
                <a:cs typeface="Calibri" panose="020F0502020204030204" pitchFamily="34" charset="0"/>
              </a:rPr>
              <a:t>dded a low-pass filter for noise filtering </a:t>
            </a:r>
          </a:p>
          <a:p>
            <a:r>
              <a:rPr lang="en-CN" sz="2000" dirty="0">
                <a:latin typeface="Calibri" panose="020F0502020204030204" pitchFamily="34" charset="0"/>
                <a:cs typeface="Calibri" panose="020F0502020204030204" pitchFamily="34" charset="0"/>
                <a:sym typeface="Wingdings" pitchFamily="2" charset="2"/>
              </a:rPr>
              <a:t>      output stable signal</a:t>
            </a:r>
            <a:endParaRPr lang="en-CN"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endParaRPr lang="en-CN" sz="2000" dirty="0">
              <a:latin typeface="Calibri" panose="020F0502020204030204" pitchFamily="34" charset="0"/>
              <a:cs typeface="Calibri" panose="020F0502020204030204" pitchFamily="34" charset="0"/>
            </a:endParaRPr>
          </a:p>
          <a:p>
            <a:pPr marL="285750" indent="-285750">
              <a:buFontTx/>
              <a:buChar char="-"/>
            </a:pPr>
            <a:endParaRPr lang="en-CN" sz="20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2F2B7AC-3BC8-AD29-1E25-6BC04411C579}"/>
              </a:ext>
            </a:extLst>
          </p:cNvPr>
          <p:cNvSpPr txBox="1"/>
          <p:nvPr/>
        </p:nvSpPr>
        <p:spPr>
          <a:xfrm>
            <a:off x="3216140" y="6161252"/>
            <a:ext cx="2879860" cy="323165"/>
          </a:xfrm>
          <a:prstGeom prst="rect">
            <a:avLst/>
          </a:prstGeom>
          <a:noFill/>
        </p:spPr>
        <p:txBody>
          <a:bodyPr wrap="square" rtlCol="0">
            <a:spAutoFit/>
          </a:bodyPr>
          <a:lstStyle/>
          <a:p>
            <a:r>
              <a:rPr lang="en-CN" sz="1500" dirty="0">
                <a:latin typeface="Calibri" panose="020F0502020204030204" pitchFamily="34" charset="0"/>
                <a:cs typeface="Calibri" panose="020F0502020204030204" pitchFamily="34" charset="0"/>
              </a:rPr>
              <a:t>VOUT goes to ADC pins on MCU</a:t>
            </a:r>
          </a:p>
        </p:txBody>
      </p:sp>
      <p:pic>
        <p:nvPicPr>
          <p:cNvPr id="13" name="Content Placeholder 12" descr="A diagram of a circuit&#10;&#10;AI-generated content may be incorrect.">
            <a:extLst>
              <a:ext uri="{FF2B5EF4-FFF2-40B4-BE49-F238E27FC236}">
                <a16:creationId xmlns:a16="http://schemas.microsoft.com/office/drawing/2014/main" id="{93DEA356-C02B-EDCA-6984-1CB29615F3BD}"/>
              </a:ext>
            </a:extLst>
          </p:cNvPr>
          <p:cNvPicPr>
            <a:picLocks noGrp="1" noChangeAspect="1"/>
          </p:cNvPicPr>
          <p:nvPr>
            <p:ph idx="1"/>
          </p:nvPr>
        </p:nvPicPr>
        <p:blipFill>
          <a:blip r:embed="rId3"/>
          <a:stretch>
            <a:fillRect/>
          </a:stretch>
        </p:blipFill>
        <p:spPr>
          <a:xfrm>
            <a:off x="838200" y="1352102"/>
            <a:ext cx="6168499" cy="4809150"/>
          </a:xfrm>
        </p:spPr>
      </p:pic>
    </p:spTree>
    <p:extLst>
      <p:ext uri="{BB962C8B-B14F-4D97-AF65-F5344CB8AC3E}">
        <p14:creationId xmlns:p14="http://schemas.microsoft.com/office/powerpoint/2010/main" val="2102783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E34F0-DCEF-F7A2-B9DB-5F39C37DE816}"/>
              </a:ext>
            </a:extLst>
          </p:cNvPr>
          <p:cNvSpPr>
            <a:spLocks noGrp="1"/>
          </p:cNvSpPr>
          <p:nvPr>
            <p:ph type="title"/>
          </p:nvPr>
        </p:nvSpPr>
        <p:spPr/>
        <p:txBody>
          <a:bodyPr>
            <a:normAutofit/>
          </a:bodyPr>
          <a:lstStyle/>
          <a:p>
            <a:r>
              <a:rPr lang="en-CN" sz="3000" dirty="0">
                <a:latin typeface="Calibri" panose="020F0502020204030204" pitchFamily="34" charset="0"/>
                <a:cs typeface="Calibri" panose="020F0502020204030204" pitchFamily="34" charset="0"/>
              </a:rPr>
              <a:t>Temperature Sensing</a:t>
            </a:r>
          </a:p>
        </p:txBody>
      </p:sp>
      <p:pic>
        <p:nvPicPr>
          <p:cNvPr id="10" name="Picture 9" descr="A black and white information&#10;&#10;AI-generated content may be incorrect.">
            <a:extLst>
              <a:ext uri="{FF2B5EF4-FFF2-40B4-BE49-F238E27FC236}">
                <a16:creationId xmlns:a16="http://schemas.microsoft.com/office/drawing/2014/main" id="{18056333-6650-BC2D-7E42-17FAA82E2C4B}"/>
              </a:ext>
            </a:extLst>
          </p:cNvPr>
          <p:cNvPicPr>
            <a:picLocks noChangeAspect="1"/>
          </p:cNvPicPr>
          <p:nvPr/>
        </p:nvPicPr>
        <p:blipFill>
          <a:blip r:embed="rId3"/>
          <a:stretch>
            <a:fillRect/>
          </a:stretch>
        </p:blipFill>
        <p:spPr>
          <a:xfrm>
            <a:off x="8902376" y="2082291"/>
            <a:ext cx="2659738" cy="1862712"/>
          </a:xfrm>
          <a:prstGeom prst="rect">
            <a:avLst/>
          </a:prstGeom>
        </p:spPr>
      </p:pic>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6281420E-9093-0F06-EE76-B33C881E7E21}"/>
                  </a:ext>
                </a:extLst>
              </p14:cNvPr>
              <p14:cNvContentPartPr/>
              <p14:nvPr/>
            </p14:nvContentPartPr>
            <p14:xfrm>
              <a:off x="9363479" y="3510123"/>
              <a:ext cx="1539218" cy="45719"/>
            </p14:xfrm>
          </p:contentPart>
        </mc:Choice>
        <mc:Fallback xmlns="">
          <p:pic>
            <p:nvPicPr>
              <p:cNvPr id="14" name="Ink 13">
                <a:extLst>
                  <a:ext uri="{FF2B5EF4-FFF2-40B4-BE49-F238E27FC236}">
                    <a16:creationId xmlns:a16="http://schemas.microsoft.com/office/drawing/2014/main" id="{6281420E-9093-0F06-EE76-B33C881E7E21}"/>
                  </a:ext>
                </a:extLst>
              </p:cNvPr>
              <p:cNvPicPr/>
              <p:nvPr/>
            </p:nvPicPr>
            <p:blipFill>
              <a:blip r:embed="rId5"/>
              <a:stretch>
                <a:fillRect/>
              </a:stretch>
            </p:blipFill>
            <p:spPr>
              <a:xfrm>
                <a:off x="9309484" y="3402485"/>
                <a:ext cx="1646848" cy="261354"/>
              </a:xfrm>
              <a:prstGeom prst="rect">
                <a:avLst/>
              </a:prstGeom>
            </p:spPr>
          </p:pic>
        </mc:Fallback>
      </mc:AlternateContent>
      <p:pic>
        <p:nvPicPr>
          <p:cNvPr id="27" name="Picture 26" descr="A black and white drawing of a ladder&#10;&#10;AI-generated content may be incorrect.">
            <a:extLst>
              <a:ext uri="{FF2B5EF4-FFF2-40B4-BE49-F238E27FC236}">
                <a16:creationId xmlns:a16="http://schemas.microsoft.com/office/drawing/2014/main" id="{A3C48578-4D80-F6D5-8F25-5FFD1EEBCA66}"/>
              </a:ext>
            </a:extLst>
          </p:cNvPr>
          <p:cNvPicPr>
            <a:picLocks noChangeAspect="1"/>
          </p:cNvPicPr>
          <p:nvPr/>
        </p:nvPicPr>
        <p:blipFill>
          <a:blip r:embed="rId6"/>
          <a:stretch>
            <a:fillRect/>
          </a:stretch>
        </p:blipFill>
        <p:spPr>
          <a:xfrm>
            <a:off x="6840895" y="1849674"/>
            <a:ext cx="1761889" cy="3032088"/>
          </a:xfrm>
          <a:prstGeom prst="rect">
            <a:avLst/>
          </a:prstGeom>
        </p:spPr>
      </p:pic>
      <mc:AlternateContent xmlns:mc="http://schemas.openxmlformats.org/markup-compatibility/2006" xmlns:p14="http://schemas.microsoft.com/office/powerpoint/2010/main">
        <mc:Choice Requires="p14">
          <p:contentPart p14:bwMode="auto" r:id="rId7">
            <p14:nvContentPartPr>
              <p14:cNvPr id="29" name="Ink 28">
                <a:extLst>
                  <a:ext uri="{FF2B5EF4-FFF2-40B4-BE49-F238E27FC236}">
                    <a16:creationId xmlns:a16="http://schemas.microsoft.com/office/drawing/2014/main" id="{513711C7-2731-D3E5-F66A-72C0315FCEEF}"/>
                  </a:ext>
                </a:extLst>
              </p14:cNvPr>
              <p14:cNvContentPartPr/>
              <p14:nvPr/>
            </p14:nvContentPartPr>
            <p14:xfrm>
              <a:off x="7614077" y="2242816"/>
              <a:ext cx="825765" cy="2534613"/>
            </p14:xfrm>
          </p:contentPart>
        </mc:Choice>
        <mc:Fallback xmlns="">
          <p:pic>
            <p:nvPicPr>
              <p:cNvPr id="29" name="Ink 28">
                <a:extLst>
                  <a:ext uri="{FF2B5EF4-FFF2-40B4-BE49-F238E27FC236}">
                    <a16:creationId xmlns:a16="http://schemas.microsoft.com/office/drawing/2014/main" id="{513711C7-2731-D3E5-F66A-72C0315FCEEF}"/>
                  </a:ext>
                </a:extLst>
              </p:cNvPr>
              <p:cNvPicPr/>
              <p:nvPr/>
            </p:nvPicPr>
            <p:blipFill>
              <a:blip r:embed="rId8"/>
              <a:stretch>
                <a:fillRect/>
              </a:stretch>
            </p:blipFill>
            <p:spPr>
              <a:xfrm>
                <a:off x="7607955" y="2236696"/>
                <a:ext cx="838009" cy="2546852"/>
              </a:xfrm>
              <a:prstGeom prst="rect">
                <a:avLst/>
              </a:prstGeom>
            </p:spPr>
          </p:pic>
        </mc:Fallback>
      </mc:AlternateContent>
      <p:pic>
        <p:nvPicPr>
          <p:cNvPr id="31" name="Picture 30" descr="A black text on a white background&#10;&#10;AI-generated content may be incorrect.">
            <a:extLst>
              <a:ext uri="{FF2B5EF4-FFF2-40B4-BE49-F238E27FC236}">
                <a16:creationId xmlns:a16="http://schemas.microsoft.com/office/drawing/2014/main" id="{11701DA1-99D0-39E3-4FB8-E62BBCC5297A}"/>
              </a:ext>
            </a:extLst>
          </p:cNvPr>
          <p:cNvPicPr>
            <a:picLocks noChangeAspect="1"/>
          </p:cNvPicPr>
          <p:nvPr/>
        </p:nvPicPr>
        <p:blipFill>
          <a:blip r:embed="rId9"/>
          <a:stretch>
            <a:fillRect/>
          </a:stretch>
        </p:blipFill>
        <p:spPr>
          <a:xfrm>
            <a:off x="6925149" y="4980393"/>
            <a:ext cx="4636965" cy="1120040"/>
          </a:xfrm>
          <a:prstGeom prst="rect">
            <a:avLst/>
          </a:prstGeom>
        </p:spPr>
      </p:pic>
      <p:sp>
        <p:nvSpPr>
          <p:cNvPr id="32" name="TextBox 31">
            <a:extLst>
              <a:ext uri="{FF2B5EF4-FFF2-40B4-BE49-F238E27FC236}">
                <a16:creationId xmlns:a16="http://schemas.microsoft.com/office/drawing/2014/main" id="{DB3E91C2-1C22-F7C6-4841-6848C274576D}"/>
              </a:ext>
            </a:extLst>
          </p:cNvPr>
          <p:cNvSpPr txBox="1"/>
          <p:nvPr/>
        </p:nvSpPr>
        <p:spPr>
          <a:xfrm>
            <a:off x="6840896" y="1529829"/>
            <a:ext cx="3126625"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From </a:t>
            </a:r>
            <a:r>
              <a:rPr lang="en-CN" dirty="0">
                <a:latin typeface="Calibri" panose="020F0502020204030204" pitchFamily="34" charset="0"/>
                <a:cs typeface="Calibri" panose="020F0502020204030204" pitchFamily="34" charset="0"/>
              </a:rPr>
              <a:t>module datasheet</a:t>
            </a:r>
          </a:p>
        </p:txBody>
      </p:sp>
      <mc:AlternateContent xmlns:mc="http://schemas.openxmlformats.org/markup-compatibility/2006" xmlns:p14="http://schemas.microsoft.com/office/powerpoint/2010/main">
        <mc:Choice Requires="p14">
          <p:contentPart p14:bwMode="auto" r:id="rId10">
            <p14:nvContentPartPr>
              <p14:cNvPr id="33" name="Ink 32">
                <a:extLst>
                  <a:ext uri="{FF2B5EF4-FFF2-40B4-BE49-F238E27FC236}">
                    <a16:creationId xmlns:a16="http://schemas.microsoft.com/office/drawing/2014/main" id="{67793D2E-45EB-8264-1C7B-B144C5730A81}"/>
                  </a:ext>
                </a:extLst>
              </p14:cNvPr>
              <p14:cNvContentPartPr/>
              <p14:nvPr/>
            </p14:nvContentPartPr>
            <p14:xfrm>
              <a:off x="9363479" y="5298908"/>
              <a:ext cx="2100936" cy="53367"/>
            </p14:xfrm>
          </p:contentPart>
        </mc:Choice>
        <mc:Fallback xmlns="">
          <p:pic>
            <p:nvPicPr>
              <p:cNvPr id="33" name="Ink 32">
                <a:extLst>
                  <a:ext uri="{FF2B5EF4-FFF2-40B4-BE49-F238E27FC236}">
                    <a16:creationId xmlns:a16="http://schemas.microsoft.com/office/drawing/2014/main" id="{67793D2E-45EB-8264-1C7B-B144C5730A81}"/>
                  </a:ext>
                </a:extLst>
              </p:cNvPr>
              <p:cNvPicPr/>
              <p:nvPr/>
            </p:nvPicPr>
            <p:blipFill>
              <a:blip r:embed="rId11"/>
              <a:stretch>
                <a:fillRect/>
              </a:stretch>
            </p:blipFill>
            <p:spPr>
              <a:xfrm>
                <a:off x="9309840" y="5189996"/>
                <a:ext cx="2208575" cy="270828"/>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4" name="Ink 33">
                <a:extLst>
                  <a:ext uri="{FF2B5EF4-FFF2-40B4-BE49-F238E27FC236}">
                    <a16:creationId xmlns:a16="http://schemas.microsoft.com/office/drawing/2014/main" id="{4ED0F30D-C5FE-C8E6-55BE-C2DCF9D5F589}"/>
                  </a:ext>
                </a:extLst>
              </p14:cNvPr>
              <p14:cNvContentPartPr/>
              <p14:nvPr/>
            </p14:nvContentPartPr>
            <p14:xfrm>
              <a:off x="7038471" y="5535245"/>
              <a:ext cx="1708349" cy="45719"/>
            </p14:xfrm>
          </p:contentPart>
        </mc:Choice>
        <mc:Fallback xmlns="">
          <p:pic>
            <p:nvPicPr>
              <p:cNvPr id="34" name="Ink 33">
                <a:extLst>
                  <a:ext uri="{FF2B5EF4-FFF2-40B4-BE49-F238E27FC236}">
                    <a16:creationId xmlns:a16="http://schemas.microsoft.com/office/drawing/2014/main" id="{4ED0F30D-C5FE-C8E6-55BE-C2DCF9D5F589}"/>
                  </a:ext>
                </a:extLst>
              </p:cNvPr>
              <p:cNvPicPr/>
              <p:nvPr/>
            </p:nvPicPr>
            <p:blipFill>
              <a:blip r:embed="rId13"/>
              <a:stretch>
                <a:fillRect/>
              </a:stretch>
            </p:blipFill>
            <p:spPr>
              <a:xfrm>
                <a:off x="6984826" y="5425003"/>
                <a:ext cx="1815998" cy="266571"/>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6" name="Ink 35">
                <a:extLst>
                  <a:ext uri="{FF2B5EF4-FFF2-40B4-BE49-F238E27FC236}">
                    <a16:creationId xmlns:a16="http://schemas.microsoft.com/office/drawing/2014/main" id="{8247A04B-38DC-35E7-0E92-58AB8655FBC8}"/>
                  </a:ext>
                </a:extLst>
              </p14:cNvPr>
              <p14:cNvContentPartPr/>
              <p14:nvPr/>
            </p14:nvContentPartPr>
            <p14:xfrm>
              <a:off x="11025225" y="5428274"/>
              <a:ext cx="444535" cy="213942"/>
            </p14:xfrm>
          </p:contentPart>
        </mc:Choice>
        <mc:Fallback xmlns="">
          <p:pic>
            <p:nvPicPr>
              <p:cNvPr id="36" name="Ink 35">
                <a:extLst>
                  <a:ext uri="{FF2B5EF4-FFF2-40B4-BE49-F238E27FC236}">
                    <a16:creationId xmlns:a16="http://schemas.microsoft.com/office/drawing/2014/main" id="{8247A04B-38DC-35E7-0E92-58AB8655FBC8}"/>
                  </a:ext>
                </a:extLst>
              </p:cNvPr>
              <p:cNvPicPr/>
              <p:nvPr/>
            </p:nvPicPr>
            <p:blipFill>
              <a:blip r:embed="rId15"/>
              <a:stretch>
                <a:fillRect/>
              </a:stretch>
            </p:blipFill>
            <p:spPr>
              <a:xfrm>
                <a:off x="11019106" y="5422151"/>
                <a:ext cx="456773" cy="226188"/>
              </a:xfrm>
              <a:prstGeom prst="rect">
                <a:avLst/>
              </a:prstGeom>
            </p:spPr>
          </p:pic>
        </mc:Fallback>
      </mc:AlternateContent>
      <p:sp>
        <p:nvSpPr>
          <p:cNvPr id="50" name="TextBox 49">
            <a:extLst>
              <a:ext uri="{FF2B5EF4-FFF2-40B4-BE49-F238E27FC236}">
                <a16:creationId xmlns:a16="http://schemas.microsoft.com/office/drawing/2014/main" id="{5D864EBB-713D-1AEB-D456-34428D88514B}"/>
              </a:ext>
            </a:extLst>
          </p:cNvPr>
          <p:cNvSpPr txBox="1"/>
          <p:nvPr/>
        </p:nvSpPr>
        <p:spPr>
          <a:xfrm>
            <a:off x="838200" y="1529829"/>
            <a:ext cx="5744599" cy="4247317"/>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E</a:t>
            </a:r>
            <a:r>
              <a:rPr lang="en-CN" dirty="0">
                <a:latin typeface="Calibri" panose="020F0502020204030204" pitchFamily="34" charset="0"/>
                <a:cs typeface="Calibri" panose="020F0502020204030204" pitchFamily="34" charset="0"/>
              </a:rPr>
              <a:t>ffectively, ADC can read temperature data precisely and compare to 60C (with a comparator U4!). </a:t>
            </a:r>
          </a:p>
          <a:p>
            <a:endParaRPr lang="en-CN" dirty="0">
              <a:latin typeface="Calibri" panose="020F0502020204030204" pitchFamily="34" charset="0"/>
              <a:cs typeface="Calibri" panose="020F0502020204030204" pitchFamily="34" charset="0"/>
            </a:endParaRPr>
          </a:p>
          <a:p>
            <a:endParaRPr lang="en-CN" dirty="0">
              <a:latin typeface="Calibri" panose="020F0502020204030204" pitchFamily="34" charset="0"/>
              <a:cs typeface="Calibri" panose="020F0502020204030204" pitchFamily="34" charset="0"/>
            </a:endParaRPr>
          </a:p>
          <a:p>
            <a:endParaRPr lang="en-CN" dirty="0">
              <a:latin typeface="Calibri" panose="020F0502020204030204" pitchFamily="34" charset="0"/>
              <a:cs typeface="Calibri" panose="020F0502020204030204" pitchFamily="34" charset="0"/>
            </a:endParaRPr>
          </a:p>
          <a:p>
            <a:endParaRPr lang="en-CN" dirty="0">
              <a:latin typeface="Calibri" panose="020F0502020204030204" pitchFamily="34" charset="0"/>
              <a:cs typeface="Calibri" panose="020F0502020204030204" pitchFamily="34" charset="0"/>
            </a:endParaRPr>
          </a:p>
          <a:p>
            <a:endParaRPr lang="en-CN" dirty="0">
              <a:latin typeface="Calibri" panose="020F0502020204030204" pitchFamily="34" charset="0"/>
              <a:cs typeface="Calibri" panose="020F0502020204030204" pitchFamily="34" charset="0"/>
            </a:endParaRPr>
          </a:p>
          <a:p>
            <a:endParaRPr lang="en-CN" dirty="0">
              <a:latin typeface="Calibri" panose="020F0502020204030204" pitchFamily="34" charset="0"/>
              <a:cs typeface="Calibri" panose="020F0502020204030204" pitchFamily="34" charset="0"/>
            </a:endParaRPr>
          </a:p>
          <a:p>
            <a:endParaRPr lang="en-CN"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a:t>
            </a:r>
            <a:r>
              <a:rPr lang="en-CN" dirty="0">
                <a:latin typeface="Calibri" panose="020F0502020204030204" pitchFamily="34" charset="0"/>
                <a:cs typeface="Calibri" panose="020F0502020204030204" pitchFamily="34" charset="0"/>
              </a:rPr>
              <a:t>f firmware is dead, watchdog catches that. </a:t>
            </a:r>
          </a:p>
          <a:p>
            <a:endParaRPr lang="en-CN" dirty="0">
              <a:latin typeface="Calibri" panose="020F0502020204030204" pitchFamily="34" charset="0"/>
              <a:cs typeface="Calibri" panose="020F0502020204030204" pitchFamily="34" charset="0"/>
            </a:endParaRPr>
          </a:p>
          <a:p>
            <a:r>
              <a:rPr lang="en-CN" dirty="0">
                <a:latin typeface="Calibri" panose="020F0502020204030204" pitchFamily="34" charset="0"/>
                <a:cs typeface="Calibri" panose="020F0502020204030204" pitchFamily="34" charset="0"/>
              </a:rPr>
              <a:t>But what if code is running but wrong, e.g. </a:t>
            </a:r>
            <a:r>
              <a:rPr lang="en-US" dirty="0">
                <a:latin typeface="Calibri" panose="020F0502020204030204" pitchFamily="34" charset="0"/>
                <a:cs typeface="Calibri" panose="020F0502020204030204" pitchFamily="34" charset="0"/>
              </a:rPr>
              <a:t>reads the wrong channel, has a stale value…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OR how can we know temp data while coding isn’t running</a:t>
            </a:r>
          </a:p>
        </p:txBody>
      </p:sp>
      <p:pic>
        <p:nvPicPr>
          <p:cNvPr id="54" name="Picture 53" descr="A diagram of a circuit&#10;&#10;AI-generated content may be incorrect.">
            <a:extLst>
              <a:ext uri="{FF2B5EF4-FFF2-40B4-BE49-F238E27FC236}">
                <a16:creationId xmlns:a16="http://schemas.microsoft.com/office/drawing/2014/main" id="{B1D5A163-56BC-2738-C292-779950A0559F}"/>
              </a:ext>
            </a:extLst>
          </p:cNvPr>
          <p:cNvPicPr>
            <a:picLocks noChangeAspect="1"/>
          </p:cNvPicPr>
          <p:nvPr/>
        </p:nvPicPr>
        <p:blipFill>
          <a:blip r:embed="rId16"/>
          <a:stretch>
            <a:fillRect/>
          </a:stretch>
        </p:blipFill>
        <p:spPr>
          <a:xfrm>
            <a:off x="957678" y="2163425"/>
            <a:ext cx="2969429" cy="1732167"/>
          </a:xfrm>
          <a:prstGeom prst="rect">
            <a:avLst/>
          </a:prstGeom>
        </p:spPr>
      </p:pic>
    </p:spTree>
    <p:extLst>
      <p:ext uri="{BB962C8B-B14F-4D97-AF65-F5344CB8AC3E}">
        <p14:creationId xmlns:p14="http://schemas.microsoft.com/office/powerpoint/2010/main" val="3133951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DE5D8-BE6B-F6EF-27E5-0F4F92118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733AC-EBBE-F35C-F263-4BDF0C543717}"/>
              </a:ext>
            </a:extLst>
          </p:cNvPr>
          <p:cNvSpPr>
            <a:spLocks noGrp="1"/>
          </p:cNvSpPr>
          <p:nvPr>
            <p:ph type="title"/>
          </p:nvPr>
        </p:nvSpPr>
        <p:spPr/>
        <p:txBody>
          <a:bodyPr>
            <a:normAutofit/>
          </a:bodyPr>
          <a:lstStyle/>
          <a:p>
            <a:r>
              <a:rPr lang="en-CN" sz="3000" dirty="0">
                <a:latin typeface="Calibri" panose="020F0502020204030204" pitchFamily="34" charset="0"/>
                <a:cs typeface="Calibri" panose="020F0502020204030204" pitchFamily="34" charset="0"/>
              </a:rPr>
              <a:t>Temperature Sensing</a:t>
            </a:r>
          </a:p>
        </p:txBody>
      </p:sp>
      <p:pic>
        <p:nvPicPr>
          <p:cNvPr id="3" name="Content Placeholder 4" descr="A diagram of a circuit&#10;&#10;AI-generated content may be incorrect.">
            <a:extLst>
              <a:ext uri="{FF2B5EF4-FFF2-40B4-BE49-F238E27FC236}">
                <a16:creationId xmlns:a16="http://schemas.microsoft.com/office/drawing/2014/main" id="{0FDA7640-CECC-BE80-00D7-0A28549633F9}"/>
              </a:ext>
            </a:extLst>
          </p:cNvPr>
          <p:cNvPicPr>
            <a:picLocks noGrp="1" noChangeAspect="1"/>
          </p:cNvPicPr>
          <p:nvPr>
            <p:ph idx="1"/>
          </p:nvPr>
        </p:nvPicPr>
        <p:blipFill>
          <a:blip r:embed="rId3"/>
          <a:stretch>
            <a:fillRect/>
          </a:stretch>
        </p:blipFill>
        <p:spPr>
          <a:xfrm>
            <a:off x="175208" y="1804490"/>
            <a:ext cx="2412640" cy="2583361"/>
          </a:xfrm>
        </p:spPr>
      </p:pic>
      <p:sp>
        <p:nvSpPr>
          <p:cNvPr id="4" name="Right Arrow 3">
            <a:extLst>
              <a:ext uri="{FF2B5EF4-FFF2-40B4-BE49-F238E27FC236}">
                <a16:creationId xmlns:a16="http://schemas.microsoft.com/office/drawing/2014/main" id="{A77B4D4C-26FD-35DB-E6D8-93A0C8F0FBA9}"/>
              </a:ext>
            </a:extLst>
          </p:cNvPr>
          <p:cNvSpPr/>
          <p:nvPr/>
        </p:nvSpPr>
        <p:spPr>
          <a:xfrm>
            <a:off x="2575464" y="2087619"/>
            <a:ext cx="542925" cy="2714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 name="Straight Connector 4">
            <a:extLst>
              <a:ext uri="{FF2B5EF4-FFF2-40B4-BE49-F238E27FC236}">
                <a16:creationId xmlns:a16="http://schemas.microsoft.com/office/drawing/2014/main" id="{6B025A39-A9F4-8A19-B344-422866801BB8}"/>
              </a:ext>
            </a:extLst>
          </p:cNvPr>
          <p:cNvCxnSpPr>
            <a:cxnSpLocks/>
          </p:cNvCxnSpPr>
          <p:nvPr/>
        </p:nvCxnSpPr>
        <p:spPr>
          <a:xfrm>
            <a:off x="1554537" y="1871924"/>
            <a:ext cx="0" cy="733287"/>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9F680A8-AB19-0E0F-F837-3997E82D3216}"/>
              </a:ext>
            </a:extLst>
          </p:cNvPr>
          <p:cNvCxnSpPr>
            <a:cxnSpLocks/>
          </p:cNvCxnSpPr>
          <p:nvPr/>
        </p:nvCxnSpPr>
        <p:spPr>
          <a:xfrm>
            <a:off x="2435806" y="1871924"/>
            <a:ext cx="0" cy="733287"/>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9D0F27B-843B-43BF-AEE8-488B6C439A25}"/>
              </a:ext>
            </a:extLst>
          </p:cNvPr>
          <p:cNvCxnSpPr>
            <a:cxnSpLocks/>
          </p:cNvCxnSpPr>
          <p:nvPr/>
        </p:nvCxnSpPr>
        <p:spPr>
          <a:xfrm flipH="1">
            <a:off x="1554537" y="2605211"/>
            <a:ext cx="8812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14530C7-B298-E452-D1CC-C74DCE5509EF}"/>
              </a:ext>
            </a:extLst>
          </p:cNvPr>
          <p:cNvCxnSpPr>
            <a:cxnSpLocks/>
          </p:cNvCxnSpPr>
          <p:nvPr/>
        </p:nvCxnSpPr>
        <p:spPr>
          <a:xfrm flipH="1">
            <a:off x="1554536" y="1878784"/>
            <a:ext cx="881269"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8E008596-B745-9E3C-BC43-262177E22B5F}"/>
              </a:ext>
            </a:extLst>
          </p:cNvPr>
          <p:cNvSpPr txBox="1"/>
          <p:nvPr/>
        </p:nvSpPr>
        <p:spPr>
          <a:xfrm>
            <a:off x="838200" y="1321356"/>
            <a:ext cx="4406143"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Backstop: DIODES! 14 sensors for 14 voltages</a:t>
            </a:r>
            <a:endParaRPr lang="en-CN"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4314723-BB88-F779-2BD0-998C58273D0C}"/>
              </a:ext>
            </a:extLst>
          </p:cNvPr>
          <p:cNvSpPr txBox="1"/>
          <p:nvPr/>
        </p:nvSpPr>
        <p:spPr>
          <a:xfrm>
            <a:off x="7108214" y="1690688"/>
            <a:ext cx="4686219" cy="2862322"/>
          </a:xfrm>
          <a:prstGeom prst="rect">
            <a:avLst/>
          </a:prstGeom>
          <a:noFill/>
        </p:spPr>
        <p:txBody>
          <a:bodyPr wrap="none" rtlCol="0">
            <a:spAutoFit/>
          </a:bodyPr>
          <a:lstStyle/>
          <a:p>
            <a:r>
              <a:rPr lang="en-US" sz="1500" b="1" dirty="0">
                <a:latin typeface="Calibri" panose="020F0502020204030204" pitchFamily="34" charset="0"/>
                <a:cs typeface="Calibri" panose="020F0502020204030204" pitchFamily="34" charset="0"/>
              </a:rPr>
              <a:t>T</a:t>
            </a:r>
            <a:r>
              <a:rPr lang="en-CN" sz="1500" b="1" dirty="0">
                <a:latin typeface="Calibri" panose="020F0502020204030204" pitchFamily="34" charset="0"/>
                <a:cs typeface="Calibri" panose="020F0502020204030204" pitchFamily="34" charset="0"/>
              </a:rPr>
              <a:t>he trick: hottest = lowest voltage (diode!)</a:t>
            </a:r>
          </a:p>
          <a:p>
            <a:pPr marL="285750" indent="-285750">
              <a:buFontTx/>
              <a:buChar char="-"/>
            </a:pPr>
            <a:r>
              <a:rPr lang="en-US" sz="1500" dirty="0">
                <a:latin typeface="Calibri" panose="020F0502020204030204" pitchFamily="34" charset="0"/>
                <a:cs typeface="Calibri" panose="020F0502020204030204" pitchFamily="34" charset="0"/>
              </a:rPr>
              <a:t>diode is a one way valve, current can flow from </a:t>
            </a:r>
          </a:p>
          <a:p>
            <a:r>
              <a:rPr lang="en-US" sz="1500" dirty="0">
                <a:latin typeface="Calibri" panose="020F0502020204030204" pitchFamily="34" charset="0"/>
                <a:cs typeface="Calibri" panose="020F0502020204030204" pitchFamily="34" charset="0"/>
              </a:rPr>
              <a:t>       anode to cathode if anode &gt;= cathode</a:t>
            </a:r>
          </a:p>
          <a:p>
            <a:endParaRPr lang="en-US" sz="1500" dirty="0">
              <a:latin typeface="Calibri" panose="020F0502020204030204" pitchFamily="34" charset="0"/>
              <a:cs typeface="Calibri" panose="020F0502020204030204" pitchFamily="34" charset="0"/>
            </a:endParaRPr>
          </a:p>
          <a:p>
            <a:r>
              <a:rPr lang="en-US" sz="1500" dirty="0" err="1">
                <a:latin typeface="Calibri" panose="020F0502020204030204" pitchFamily="34" charset="0"/>
                <a:cs typeface="Calibri" panose="020F0502020204030204" pitchFamily="34" charset="0"/>
              </a:rPr>
              <a:t>e.g</a:t>
            </a:r>
            <a:r>
              <a:rPr lang="en-US" sz="1500" dirty="0">
                <a:latin typeface="Calibri" panose="020F0502020204030204" pitchFamily="34" charset="0"/>
                <a:cs typeface="Calibri" panose="020F0502020204030204" pitchFamily="34" charset="0"/>
              </a:rPr>
              <a:t> Sensor 1 at 1.9V (cool), Sensor 2 at 1.5V (hot)</a:t>
            </a:r>
          </a:p>
          <a:p>
            <a:r>
              <a:rPr lang="en-US" sz="1500" dirty="0">
                <a:latin typeface="Calibri" panose="020F0502020204030204" pitchFamily="34" charset="0"/>
                <a:cs typeface="Calibri" panose="020F0502020204030204" pitchFamily="34" charset="0"/>
              </a:rPr>
              <a:t>pull TEMP_HOT up toward 3.3V, as it rises:</a:t>
            </a:r>
          </a:p>
          <a:p>
            <a:pPr marL="285750" indent="-285750">
              <a:buFontTx/>
              <a:buChar char="-"/>
            </a:pPr>
            <a:r>
              <a:rPr lang="en-US" sz="1500" dirty="0">
                <a:latin typeface="Calibri" panose="020F0502020204030204" pitchFamily="34" charset="0"/>
                <a:cs typeface="Calibri" panose="020F0502020204030204" pitchFamily="34" charset="0"/>
              </a:rPr>
              <a:t>TEMP_HOT at 1.V: both diodes shut</a:t>
            </a:r>
          </a:p>
          <a:p>
            <a:pPr marL="285750" indent="-285750">
              <a:buFontTx/>
              <a:buChar char="-"/>
            </a:pPr>
            <a:r>
              <a:rPr lang="en-US" sz="1500" dirty="0">
                <a:latin typeface="Calibri" panose="020F0502020204030204" pitchFamily="34" charset="0"/>
                <a:cs typeface="Calibri" panose="020F0502020204030204" pitchFamily="34" charset="0"/>
              </a:rPr>
              <a:t>TEMP_HOT at 1.7V: diode2 opens, current flows from </a:t>
            </a:r>
          </a:p>
          <a:p>
            <a:r>
              <a:rPr lang="en-US" sz="1500" dirty="0">
                <a:latin typeface="Calibri" panose="020F0502020204030204" pitchFamily="34" charset="0"/>
                <a:cs typeface="Calibri" panose="020F0502020204030204" pitchFamily="34" charset="0"/>
              </a:rPr>
              <a:t>       TEMP_HOT through D2 to sensor 2</a:t>
            </a:r>
          </a:p>
          <a:p>
            <a:endParaRPr lang="en-US" sz="1500" dirty="0">
              <a:latin typeface="Calibri" panose="020F0502020204030204" pitchFamily="34" charset="0"/>
              <a:cs typeface="Calibri" panose="020F0502020204030204" pitchFamily="34" charset="0"/>
            </a:endParaRPr>
          </a:p>
          <a:p>
            <a:r>
              <a:rPr lang="en-US" sz="1500" dirty="0">
                <a:latin typeface="Calibri" panose="020F0502020204030204" pitchFamily="34" charset="0"/>
                <a:cs typeface="Calibri" panose="020F0502020204030204" pitchFamily="34" charset="0"/>
              </a:rPr>
              <a:t>That current holds TEMP_HOT at 1.7V </a:t>
            </a:r>
            <a:r>
              <a:rPr lang="en-US" sz="1500" dirty="0" err="1">
                <a:latin typeface="Calibri" panose="020F0502020204030204" pitchFamily="34" charset="0"/>
                <a:cs typeface="Calibri" panose="020F0502020204030204" pitchFamily="34" charset="0"/>
              </a:rPr>
              <a:t>bc</a:t>
            </a:r>
            <a:r>
              <a:rPr lang="en-US" sz="1500" dirty="0">
                <a:latin typeface="Calibri" panose="020F0502020204030204" pitchFamily="34" charset="0"/>
                <a:cs typeface="Calibri" panose="020F0502020204030204" pitchFamily="34" charset="0"/>
              </a:rPr>
              <a:t> D2 drains it </a:t>
            </a:r>
          </a:p>
          <a:p>
            <a:r>
              <a:rPr lang="en-US" sz="1500" dirty="0">
                <a:latin typeface="Calibri" panose="020F0502020204030204" pitchFamily="34" charset="0"/>
                <a:cs typeface="Calibri" panose="020F0502020204030204" pitchFamily="34" charset="0"/>
              </a:rPr>
              <a:t>as fast as the resistor supplies it. D1 is never opened.</a:t>
            </a:r>
            <a:endParaRPr lang="en-CN" sz="1500" dirty="0">
              <a:latin typeface="Calibri" panose="020F0502020204030204" pitchFamily="34" charset="0"/>
              <a:cs typeface="Calibri" panose="020F0502020204030204" pitchFamily="34" charset="0"/>
            </a:endParaRPr>
          </a:p>
        </p:txBody>
      </p:sp>
      <p:pic>
        <p:nvPicPr>
          <p:cNvPr id="12" name="Picture 11" descr="A diagram of a device&#10;&#10;AI-generated content may be incorrect.">
            <a:extLst>
              <a:ext uri="{FF2B5EF4-FFF2-40B4-BE49-F238E27FC236}">
                <a16:creationId xmlns:a16="http://schemas.microsoft.com/office/drawing/2014/main" id="{82E2C23E-0154-441A-2537-16ADF4F630C4}"/>
              </a:ext>
            </a:extLst>
          </p:cNvPr>
          <p:cNvPicPr>
            <a:picLocks noChangeAspect="1"/>
          </p:cNvPicPr>
          <p:nvPr/>
        </p:nvPicPr>
        <p:blipFill>
          <a:blip r:embed="rId4"/>
          <a:stretch>
            <a:fillRect/>
          </a:stretch>
        </p:blipFill>
        <p:spPr>
          <a:xfrm>
            <a:off x="3171117" y="1755921"/>
            <a:ext cx="3860800" cy="3670300"/>
          </a:xfrm>
          <a:prstGeom prst="rect">
            <a:avLst/>
          </a:prstGeom>
        </p:spPr>
      </p:pic>
      <p:sp>
        <p:nvSpPr>
          <p:cNvPr id="17" name="Rectangle 16">
            <a:extLst>
              <a:ext uri="{FF2B5EF4-FFF2-40B4-BE49-F238E27FC236}">
                <a16:creationId xmlns:a16="http://schemas.microsoft.com/office/drawing/2014/main" id="{D7A38E24-472D-99F1-5F71-DA0160D88CE7}"/>
              </a:ext>
            </a:extLst>
          </p:cNvPr>
          <p:cNvSpPr/>
          <p:nvPr/>
        </p:nvSpPr>
        <p:spPr>
          <a:xfrm>
            <a:off x="3418114" y="1755921"/>
            <a:ext cx="1683403" cy="32950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TextBox 17">
            <a:extLst>
              <a:ext uri="{FF2B5EF4-FFF2-40B4-BE49-F238E27FC236}">
                <a16:creationId xmlns:a16="http://schemas.microsoft.com/office/drawing/2014/main" id="{37C54C20-2F63-4966-C775-A12BFC695140}"/>
              </a:ext>
            </a:extLst>
          </p:cNvPr>
          <p:cNvSpPr txBox="1"/>
          <p:nvPr/>
        </p:nvSpPr>
        <p:spPr>
          <a:xfrm>
            <a:off x="1891734" y="4476116"/>
            <a:ext cx="1526380" cy="323165"/>
          </a:xfrm>
          <a:prstGeom prst="rect">
            <a:avLst/>
          </a:prstGeom>
          <a:noFill/>
        </p:spPr>
        <p:txBody>
          <a:bodyPr wrap="none" rtlCol="0">
            <a:spAutoFit/>
          </a:bodyPr>
          <a:lstStyle/>
          <a:p>
            <a:r>
              <a:rPr lang="en-CN" sz="1500" dirty="0">
                <a:latin typeface="Calibri" panose="020F0502020204030204" pitchFamily="34" charset="0"/>
                <a:cs typeface="Calibri" panose="020F0502020204030204" pitchFamily="34" charset="0"/>
              </a:rPr>
              <a:t>Goes to ADC pins</a:t>
            </a:r>
          </a:p>
        </p:txBody>
      </p:sp>
      <p:sp>
        <p:nvSpPr>
          <p:cNvPr id="19" name="Rectangle 18">
            <a:extLst>
              <a:ext uri="{FF2B5EF4-FFF2-40B4-BE49-F238E27FC236}">
                <a16:creationId xmlns:a16="http://schemas.microsoft.com/office/drawing/2014/main" id="{BC252823-CAEA-5917-0282-9BA08B42C488}"/>
              </a:ext>
            </a:extLst>
          </p:cNvPr>
          <p:cNvSpPr/>
          <p:nvPr/>
        </p:nvSpPr>
        <p:spPr>
          <a:xfrm>
            <a:off x="5161261" y="2605211"/>
            <a:ext cx="1810912" cy="2108303"/>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 name="TextBox 19">
            <a:extLst>
              <a:ext uri="{FF2B5EF4-FFF2-40B4-BE49-F238E27FC236}">
                <a16:creationId xmlns:a16="http://schemas.microsoft.com/office/drawing/2014/main" id="{744DF872-E419-9136-4465-C8B82AE9173B}"/>
              </a:ext>
            </a:extLst>
          </p:cNvPr>
          <p:cNvSpPr txBox="1"/>
          <p:nvPr/>
        </p:nvSpPr>
        <p:spPr>
          <a:xfrm>
            <a:off x="5177814" y="2282046"/>
            <a:ext cx="1739707" cy="323165"/>
          </a:xfrm>
          <a:prstGeom prst="rect">
            <a:avLst/>
          </a:prstGeom>
          <a:noFill/>
        </p:spPr>
        <p:txBody>
          <a:bodyPr wrap="none" rtlCol="0">
            <a:spAutoFit/>
          </a:bodyPr>
          <a:lstStyle/>
          <a:p>
            <a:r>
              <a:rPr lang="en-CN" sz="1500" dirty="0">
                <a:latin typeface="Calibri" panose="020F0502020204030204" pitchFamily="34" charset="0"/>
                <a:cs typeface="Calibri" panose="020F0502020204030204" pitchFamily="34" charset="0"/>
              </a:rPr>
              <a:t>Goes to comparator</a:t>
            </a:r>
          </a:p>
        </p:txBody>
      </p:sp>
      <p:sp>
        <p:nvSpPr>
          <p:cNvPr id="21" name="TextBox 20">
            <a:extLst>
              <a:ext uri="{FF2B5EF4-FFF2-40B4-BE49-F238E27FC236}">
                <a16:creationId xmlns:a16="http://schemas.microsoft.com/office/drawing/2014/main" id="{98384230-AD9C-F640-2E11-6B84A5E6F5EA}"/>
              </a:ext>
            </a:extLst>
          </p:cNvPr>
          <p:cNvSpPr txBox="1"/>
          <p:nvPr/>
        </p:nvSpPr>
        <p:spPr>
          <a:xfrm>
            <a:off x="647700" y="5359400"/>
            <a:ext cx="184731" cy="369332"/>
          </a:xfrm>
          <a:prstGeom prst="rect">
            <a:avLst/>
          </a:prstGeom>
          <a:noFill/>
        </p:spPr>
        <p:txBody>
          <a:bodyPr wrap="none" rtlCol="0">
            <a:spAutoFit/>
          </a:bodyPr>
          <a:lstStyle/>
          <a:p>
            <a:endParaRPr lang="en-CN" dirty="0"/>
          </a:p>
        </p:txBody>
      </p:sp>
      <p:pic>
        <p:nvPicPr>
          <p:cNvPr id="24" name="Picture 23" descr="A screenshot of a phone&#10;&#10;AI-generated content may be incorrect.">
            <a:extLst>
              <a:ext uri="{FF2B5EF4-FFF2-40B4-BE49-F238E27FC236}">
                <a16:creationId xmlns:a16="http://schemas.microsoft.com/office/drawing/2014/main" id="{FD9C40C1-870D-FC8D-8472-827250FF8213}"/>
              </a:ext>
            </a:extLst>
          </p:cNvPr>
          <p:cNvPicPr>
            <a:picLocks noChangeAspect="1"/>
          </p:cNvPicPr>
          <p:nvPr/>
        </p:nvPicPr>
        <p:blipFill>
          <a:blip r:embed="rId5"/>
          <a:stretch>
            <a:fillRect/>
          </a:stretch>
        </p:blipFill>
        <p:spPr>
          <a:xfrm>
            <a:off x="7168996" y="4648929"/>
            <a:ext cx="4476903" cy="1879616"/>
          </a:xfrm>
          <a:prstGeom prst="rect">
            <a:avLst/>
          </a:prstGeom>
        </p:spPr>
      </p:pic>
      <p:pic>
        <p:nvPicPr>
          <p:cNvPr id="26" name="Picture 25">
            <a:extLst>
              <a:ext uri="{FF2B5EF4-FFF2-40B4-BE49-F238E27FC236}">
                <a16:creationId xmlns:a16="http://schemas.microsoft.com/office/drawing/2014/main" id="{8D46F044-5D30-53F2-6A19-65436D483DC2}"/>
              </a:ext>
            </a:extLst>
          </p:cNvPr>
          <p:cNvPicPr>
            <a:picLocks noChangeAspect="1"/>
          </p:cNvPicPr>
          <p:nvPr/>
        </p:nvPicPr>
        <p:blipFill>
          <a:blip r:embed="rId6"/>
          <a:stretch>
            <a:fillRect/>
          </a:stretch>
        </p:blipFill>
        <p:spPr>
          <a:xfrm>
            <a:off x="7108214" y="217605"/>
            <a:ext cx="3775050" cy="1377164"/>
          </a:xfrm>
          <a:prstGeom prst="rect">
            <a:avLst/>
          </a:prstGeom>
        </p:spPr>
      </p:pic>
      <p:sp>
        <p:nvSpPr>
          <p:cNvPr id="10" name="TextBox 9">
            <a:extLst>
              <a:ext uri="{FF2B5EF4-FFF2-40B4-BE49-F238E27FC236}">
                <a16:creationId xmlns:a16="http://schemas.microsoft.com/office/drawing/2014/main" id="{3E7ECAE1-73C5-F518-AECB-EB2A2EB4E497}"/>
              </a:ext>
            </a:extLst>
          </p:cNvPr>
          <p:cNvSpPr txBox="1"/>
          <p:nvPr/>
        </p:nvSpPr>
        <p:spPr>
          <a:xfrm>
            <a:off x="1891734" y="5491454"/>
            <a:ext cx="5255926" cy="1384995"/>
          </a:xfrm>
          <a:prstGeom prst="rect">
            <a:avLst/>
          </a:prstGeom>
          <a:noFill/>
        </p:spPr>
        <p:txBody>
          <a:bodyPr wrap="none" rtlCol="0">
            <a:spAutoFit/>
          </a:bodyPr>
          <a:lstStyle/>
          <a:p>
            <a:r>
              <a:rPr lang="en-US" sz="1400" dirty="0">
                <a:latin typeface="Calibri" panose="020F0502020204030204" pitchFamily="34" charset="0"/>
                <a:cs typeface="Calibri" panose="020F0502020204030204" pitchFamily="34" charset="0"/>
              </a:rPr>
              <a:t>- Every sensor connects to a shared wire, TEMP_HOT, through a diode</a:t>
            </a:r>
          </a:p>
          <a:p>
            <a:r>
              <a:rPr lang="en-US" sz="1400" dirty="0">
                <a:latin typeface="Calibri" panose="020F0502020204030204" pitchFamily="34" charset="0"/>
                <a:cs typeface="Calibri" panose="020F0502020204030204" pitchFamily="34" charset="0"/>
              </a:rPr>
              <a:t>- A 10 k pull-up lifts TEMP_HOT toward 3.3 V</a:t>
            </a:r>
          </a:p>
          <a:p>
            <a:r>
              <a:rPr lang="en-US" sz="1400" dirty="0">
                <a:latin typeface="Calibri" panose="020F0502020204030204" pitchFamily="34" charset="0"/>
                <a:cs typeface="Calibri" panose="020F0502020204030204" pitchFamily="34" charset="0"/>
              </a:rPr>
              <a:t>- Each diode lets its sensor pull the wire down but can't push it up</a:t>
            </a:r>
          </a:p>
          <a:p>
            <a:r>
              <a:rPr lang="en-US" sz="1400" dirty="0">
                <a:latin typeface="Calibri" panose="020F0502020204030204" pitchFamily="34" charset="0"/>
                <a:cs typeface="Calibri" panose="020F0502020204030204" pitchFamily="34" charset="0"/>
              </a:rPr>
              <a:t>- The wire rises until it hits the lowest sensor and stops</a:t>
            </a:r>
          </a:p>
          <a:p>
            <a:r>
              <a:rPr lang="en-US" sz="1400" dirty="0">
                <a:latin typeface="Calibri" panose="020F0502020204030204" pitchFamily="34" charset="0"/>
                <a:cs typeface="Calibri" panose="020F0502020204030204" pitchFamily="34" charset="0"/>
              </a:rPr>
              <a:t> </a:t>
            </a:r>
          </a:p>
          <a:p>
            <a:endParaRPr lang="en-CN" sz="1400"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3ADD9781-855F-B5F6-95A3-B998D59461A1}"/>
              </a:ext>
            </a:extLst>
          </p:cNvPr>
          <p:cNvSpPr/>
          <p:nvPr/>
        </p:nvSpPr>
        <p:spPr>
          <a:xfrm>
            <a:off x="1891734" y="5447901"/>
            <a:ext cx="5216480" cy="10449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Right Arrow 13">
            <a:extLst>
              <a:ext uri="{FF2B5EF4-FFF2-40B4-BE49-F238E27FC236}">
                <a16:creationId xmlns:a16="http://schemas.microsoft.com/office/drawing/2014/main" id="{80B2CDF0-F6E9-C747-4D39-198A49D853B1}"/>
              </a:ext>
            </a:extLst>
          </p:cNvPr>
          <p:cNvSpPr/>
          <p:nvPr/>
        </p:nvSpPr>
        <p:spPr>
          <a:xfrm rot="16200000">
            <a:off x="6510327" y="4928594"/>
            <a:ext cx="542925" cy="2714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618686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8EC07-09FA-A36D-071F-5C3BCAB53AAC}"/>
              </a:ext>
            </a:extLst>
          </p:cNvPr>
          <p:cNvSpPr>
            <a:spLocks noGrp="1"/>
          </p:cNvSpPr>
          <p:nvPr>
            <p:ph type="title"/>
          </p:nvPr>
        </p:nvSpPr>
        <p:spPr>
          <a:xfrm>
            <a:off x="838200" y="249378"/>
            <a:ext cx="10515600" cy="1325563"/>
          </a:xfrm>
        </p:spPr>
        <p:txBody>
          <a:bodyPr>
            <a:normAutofit/>
          </a:bodyPr>
          <a:lstStyle/>
          <a:p>
            <a:r>
              <a:rPr lang="en-CN" sz="3000" dirty="0">
                <a:latin typeface="Calibri" panose="020F0502020204030204" pitchFamily="34" charset="0"/>
                <a:cs typeface="Calibri" panose="020F0502020204030204" pitchFamily="34" charset="0"/>
              </a:rPr>
              <a:t>CAN transciever + termination (DNP)</a:t>
            </a:r>
          </a:p>
        </p:txBody>
      </p:sp>
      <p:pic>
        <p:nvPicPr>
          <p:cNvPr id="7" name="Picture 6" descr="A computer diagram of a circuit board&#10;&#10;AI-generated content may be incorrect.">
            <a:extLst>
              <a:ext uri="{FF2B5EF4-FFF2-40B4-BE49-F238E27FC236}">
                <a16:creationId xmlns:a16="http://schemas.microsoft.com/office/drawing/2014/main" id="{E1362854-0602-422F-8512-F989A81B204F}"/>
              </a:ext>
            </a:extLst>
          </p:cNvPr>
          <p:cNvPicPr>
            <a:picLocks noChangeAspect="1"/>
          </p:cNvPicPr>
          <p:nvPr/>
        </p:nvPicPr>
        <p:blipFill>
          <a:blip r:embed="rId3"/>
          <a:stretch>
            <a:fillRect/>
          </a:stretch>
        </p:blipFill>
        <p:spPr>
          <a:xfrm>
            <a:off x="653005" y="1462955"/>
            <a:ext cx="4830997" cy="3343649"/>
          </a:xfrm>
          <a:prstGeom prst="rect">
            <a:avLst/>
          </a:prstGeom>
        </p:spPr>
      </p:pic>
      <p:sp>
        <p:nvSpPr>
          <p:cNvPr id="10" name="TextBox 9">
            <a:extLst>
              <a:ext uri="{FF2B5EF4-FFF2-40B4-BE49-F238E27FC236}">
                <a16:creationId xmlns:a16="http://schemas.microsoft.com/office/drawing/2014/main" id="{5B16596D-1496-5CF7-7EB7-D3641F82C4F7}"/>
              </a:ext>
            </a:extLst>
          </p:cNvPr>
          <p:cNvSpPr txBox="1"/>
          <p:nvPr/>
        </p:nvSpPr>
        <p:spPr>
          <a:xfrm>
            <a:off x="5669196" y="1467500"/>
            <a:ext cx="6287451" cy="4801314"/>
          </a:xfrm>
          <a:prstGeom prst="rect">
            <a:avLst/>
          </a:prstGeom>
          <a:noFill/>
        </p:spPr>
        <p:txBody>
          <a:bodyPr wrap="square" rtlCol="0">
            <a:spAutoFit/>
          </a:bodyPr>
          <a:lstStyle/>
          <a:p>
            <a:r>
              <a:rPr lang="en-CN" b="1" dirty="0">
                <a:latin typeface="Calibri" panose="020F0502020204030204" pitchFamily="34" charset="0"/>
                <a:cs typeface="Calibri" panose="020F0502020204030204" pitchFamily="34" charset="0"/>
              </a:rPr>
              <a:t>CAN differential signaling</a:t>
            </a:r>
          </a:p>
          <a:p>
            <a:pPr marL="285750" indent="-285750">
              <a:buFontTx/>
              <a:buChar char="-"/>
            </a:pPr>
            <a:r>
              <a:rPr lang="en-US" dirty="0">
                <a:latin typeface="Calibri" panose="020F0502020204030204" pitchFamily="34" charset="0"/>
                <a:cs typeface="Calibri" panose="020F0502020204030204" pitchFamily="34" charset="0"/>
              </a:rPr>
              <a:t>N</a:t>
            </a:r>
            <a:r>
              <a:rPr lang="en-CN" dirty="0">
                <a:latin typeface="Calibri" panose="020F0502020204030204" pitchFamily="34" charset="0"/>
                <a:cs typeface="Calibri" panose="020F0502020204030204" pitchFamily="34" charset="0"/>
              </a:rPr>
              <a:t>o master and slave, every address wants to talk at same time</a:t>
            </a:r>
          </a:p>
          <a:p>
            <a:pPr marL="285750" indent="-285750">
              <a:buFontTx/>
              <a:buChar char="-"/>
            </a:pPr>
            <a:r>
              <a:rPr lang="en-US" dirty="0">
                <a:latin typeface="Calibri" panose="020F0502020204030204" pitchFamily="34" charset="0"/>
                <a:cs typeface="Calibri" panose="020F0502020204030204" pitchFamily="34" charset="0"/>
              </a:rPr>
              <a:t>Opposite polarity </a:t>
            </a:r>
            <a:r>
              <a:rPr lang="en-US" dirty="0">
                <a:latin typeface="Calibri" panose="020F0502020204030204" pitchFamily="34" charset="0"/>
                <a:cs typeface="Calibri" panose="020F0502020204030204" pitchFamily="34" charset="0"/>
                <a:sym typeface="Wingdings" pitchFamily="2" charset="2"/>
              </a:rPr>
              <a:t> </a:t>
            </a:r>
            <a:r>
              <a:rPr lang="en-US" dirty="0">
                <a:latin typeface="Calibri" panose="020F0502020204030204" pitchFamily="34" charset="0"/>
                <a:cs typeface="Calibri" panose="020F0502020204030204" pitchFamily="34" charset="0"/>
              </a:rPr>
              <a:t>noise lands on both and cancels at the receiver</a:t>
            </a:r>
          </a:p>
          <a:p>
            <a:pPr marL="285750" indent="-285750">
              <a:buFontTx/>
              <a:buChar char="-"/>
            </a:pPr>
            <a:r>
              <a:rPr lang="en-US" dirty="0">
                <a:latin typeface="Calibri" panose="020F0502020204030204" pitchFamily="34" charset="0"/>
                <a:cs typeface="Calibri" panose="020F0502020204030204" pitchFamily="34" charset="0"/>
              </a:rPr>
              <a:t>A node transmits when the bus is idle; collisions resolve by address; lower address has higher priority &lt;== CAN actively low (prefer 0 over 1)</a:t>
            </a:r>
            <a:endParaRPr lang="en-CN" dirty="0">
              <a:latin typeface="Calibri" panose="020F0502020204030204" pitchFamily="34" charset="0"/>
              <a:cs typeface="Calibri" panose="020F0502020204030204" pitchFamily="34" charset="0"/>
            </a:endParaRPr>
          </a:p>
          <a:p>
            <a:pPr marL="285750" indent="-285750">
              <a:buFontTx/>
              <a:buChar char="-"/>
            </a:pPr>
            <a:r>
              <a:rPr lang="en-CN" dirty="0">
                <a:latin typeface="Calibri" panose="020F0502020204030204" pitchFamily="34" charset="0"/>
                <a:cs typeface="Calibri" panose="020F0502020204030204" pitchFamily="34" charset="0"/>
              </a:rPr>
              <a:t>e.g cell temp data from BMS to datalogger, steering info from dashboard to control movements</a:t>
            </a:r>
          </a:p>
          <a:p>
            <a:pPr marL="285750" indent="-285750">
              <a:buFontTx/>
              <a:buChar char="-"/>
            </a:pPr>
            <a:endParaRPr lang="en-CN" dirty="0">
              <a:latin typeface="Calibri" panose="020F0502020204030204" pitchFamily="34" charset="0"/>
              <a:cs typeface="Calibri" panose="020F0502020204030204" pitchFamily="34" charset="0"/>
            </a:endParaRPr>
          </a:p>
          <a:p>
            <a:r>
              <a:rPr lang="en-CN" b="1" dirty="0">
                <a:latin typeface="Calibri" panose="020F0502020204030204" pitchFamily="34" charset="0"/>
                <a:cs typeface="Calibri" panose="020F0502020204030204" pitchFamily="34" charset="0"/>
              </a:rPr>
              <a:t>How BMS interface with the car? CAN!</a:t>
            </a:r>
          </a:p>
          <a:p>
            <a:pPr marL="285750" indent="-285750">
              <a:buFontTx/>
              <a:buChar char="-"/>
            </a:pPr>
            <a:r>
              <a:rPr lang="en-CN" dirty="0">
                <a:latin typeface="Calibri" panose="020F0502020204030204" pitchFamily="34" charset="0"/>
                <a:cs typeface="Calibri" panose="020F0502020204030204" pitchFamily="34" charset="0"/>
              </a:rPr>
              <a:t>BMS is a node in the overall CAN line, usually not termination node </a:t>
            </a:r>
            <a:r>
              <a:rPr lang="en-CN" dirty="0">
                <a:latin typeface="Calibri" panose="020F0502020204030204" pitchFamily="34" charset="0"/>
                <a:cs typeface="Calibri" panose="020F0502020204030204" pitchFamily="34" charset="0"/>
                <a:sym typeface="Wingdings" pitchFamily="2" charset="2"/>
              </a:rPr>
              <a:t> DNP</a:t>
            </a:r>
          </a:p>
          <a:p>
            <a:pPr marL="285750" indent="-285750">
              <a:buFontTx/>
              <a:buChar char="-"/>
            </a:pPr>
            <a:r>
              <a:rPr lang="en-CN" dirty="0">
                <a:latin typeface="Calibri" panose="020F0502020204030204" pitchFamily="34" charset="0"/>
                <a:cs typeface="Calibri" panose="020F0502020204030204" pitchFamily="34" charset="0"/>
                <a:sym typeface="Wingdings" pitchFamily="2" charset="2"/>
              </a:rPr>
              <a:t>(no starting node and terminating node  if CAN line left floating, signals will reflect back  put two resistors on each end)</a:t>
            </a:r>
          </a:p>
          <a:p>
            <a:endParaRPr lang="en-CN" dirty="0">
              <a:latin typeface="Calibri" panose="020F0502020204030204" pitchFamily="34" charset="0"/>
              <a:cs typeface="Calibri" panose="020F0502020204030204" pitchFamily="34" charset="0"/>
              <a:sym typeface="Wingdings" pitchFamily="2" charset="2"/>
            </a:endParaRPr>
          </a:p>
        </p:txBody>
      </p:sp>
      <p:sp>
        <p:nvSpPr>
          <p:cNvPr id="13" name="TextBox 12">
            <a:extLst>
              <a:ext uri="{FF2B5EF4-FFF2-40B4-BE49-F238E27FC236}">
                <a16:creationId xmlns:a16="http://schemas.microsoft.com/office/drawing/2014/main" id="{DDB58DAC-D608-CB2A-59B9-F63DCF23ED4F}"/>
              </a:ext>
            </a:extLst>
          </p:cNvPr>
          <p:cNvSpPr txBox="1"/>
          <p:nvPr/>
        </p:nvSpPr>
        <p:spPr>
          <a:xfrm>
            <a:off x="653005" y="5021168"/>
            <a:ext cx="4328429" cy="584775"/>
          </a:xfrm>
          <a:prstGeom prst="rect">
            <a:avLst/>
          </a:prstGeom>
          <a:noFill/>
        </p:spPr>
        <p:txBody>
          <a:bodyPr wrap="none" rtlCol="0">
            <a:spAutoFit/>
          </a:bodyPr>
          <a:lstStyle/>
          <a:p>
            <a:r>
              <a:rPr lang="en-US" sz="1600" b="1" dirty="0">
                <a:latin typeface="Calibri" panose="020F0502020204030204" pitchFamily="34" charset="0"/>
                <a:cs typeface="Calibri" panose="020F0502020204030204" pitchFamily="34" charset="0"/>
              </a:rPr>
              <a:t>CAN transceiver: </a:t>
            </a:r>
            <a:r>
              <a:rPr lang="en-US" sz="1600" dirty="0">
                <a:latin typeface="Calibri" panose="020F0502020204030204" pitchFamily="34" charset="0"/>
                <a:cs typeface="Calibri" panose="020F0502020204030204" pitchFamily="34" charset="0"/>
              </a:rPr>
              <a:t>a translator between 3.3 V logic </a:t>
            </a:r>
          </a:p>
          <a:p>
            <a:r>
              <a:rPr lang="en-US" sz="1600" dirty="0">
                <a:latin typeface="Calibri" panose="020F0502020204030204" pitchFamily="34" charset="0"/>
                <a:cs typeface="Calibri" panose="020F0502020204030204" pitchFamily="34" charset="0"/>
              </a:rPr>
              <a:t>on MCU and differential signal on CAN harness.</a:t>
            </a:r>
            <a:endParaRPr lang="en-CN"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8551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A7AB6-830C-2B48-C178-D567395C8A6E}"/>
              </a:ext>
            </a:extLst>
          </p:cNvPr>
          <p:cNvSpPr>
            <a:spLocks noGrp="1"/>
          </p:cNvSpPr>
          <p:nvPr>
            <p:ph type="title"/>
          </p:nvPr>
        </p:nvSpPr>
        <p:spPr/>
        <p:txBody>
          <a:bodyPr>
            <a:normAutofit/>
          </a:bodyPr>
          <a:lstStyle/>
          <a:p>
            <a:r>
              <a:rPr lang="en-CN" sz="3000" dirty="0">
                <a:latin typeface="Calibri" panose="020F0502020204030204" pitchFamily="34" charset="0"/>
                <a:cs typeface="Calibri" panose="020F0502020204030204" pitchFamily="34" charset="0"/>
              </a:rPr>
              <a:t>BMS interface (ot</a:t>
            </a:r>
            <a:r>
              <a:rPr lang="en-US" sz="3000" dirty="0">
                <a:latin typeface="Calibri" panose="020F0502020204030204" pitchFamily="34" charset="0"/>
                <a:cs typeface="Calibri" panose="020F0502020204030204" pitchFamily="34" charset="0"/>
              </a:rPr>
              <a:t>he</a:t>
            </a:r>
            <a:r>
              <a:rPr lang="en-CN" sz="3000" dirty="0">
                <a:latin typeface="Calibri" panose="020F0502020204030204" pitchFamily="34" charset="0"/>
                <a:cs typeface="Calibri" panose="020F0502020204030204" pitchFamily="34" charset="0"/>
              </a:rPr>
              <a:t>r than CAN)</a:t>
            </a:r>
          </a:p>
        </p:txBody>
      </p:sp>
      <p:sp>
        <p:nvSpPr>
          <p:cNvPr id="3" name="Content Placeholder 2">
            <a:extLst>
              <a:ext uri="{FF2B5EF4-FFF2-40B4-BE49-F238E27FC236}">
                <a16:creationId xmlns:a16="http://schemas.microsoft.com/office/drawing/2014/main" id="{32BF7886-73C2-A15B-ECA9-B33FDBE8C7ED}"/>
              </a:ext>
            </a:extLst>
          </p:cNvPr>
          <p:cNvSpPr>
            <a:spLocks noGrp="1"/>
          </p:cNvSpPr>
          <p:nvPr>
            <p:ph idx="1"/>
          </p:nvPr>
        </p:nvSpPr>
        <p:spPr>
          <a:xfrm>
            <a:off x="838200" y="1493465"/>
            <a:ext cx="10515600" cy="4351338"/>
          </a:xfrm>
        </p:spPr>
        <p:txBody>
          <a:bodyPr/>
          <a:lstStyle/>
          <a:p>
            <a:pPr marL="285750" indent="-285750">
              <a:buFontTx/>
              <a:buChar char="-"/>
            </a:pPr>
            <a:r>
              <a:rPr lang="en-CN" sz="1800" dirty="0">
                <a:latin typeface="Calibri" panose="020F0502020204030204" pitchFamily="34" charset="0"/>
                <a:cs typeface="Calibri" panose="020F0502020204030204" pitchFamily="34" charset="0"/>
                <a:sym typeface="Wingdings" pitchFamily="2" charset="2"/>
              </a:rPr>
              <a:t>Shutdown circuitry (BMS fault) : relay contactors in series with the car’s loop, </a:t>
            </a:r>
            <a:r>
              <a:rPr lang="en-US" sz="1800" dirty="0">
                <a:latin typeface="Calibri" panose="020F0502020204030204" pitchFamily="34" charset="0"/>
                <a:cs typeface="Calibri" panose="020F0502020204030204" pitchFamily="34" charset="0"/>
                <a:sym typeface="Wingdings" pitchFamily="2" charset="2"/>
              </a:rPr>
              <a:t>SDC_IN/SDC_OUT on J5</a:t>
            </a:r>
          </a:p>
          <a:p>
            <a:pPr lvl="1"/>
            <a:r>
              <a:rPr lang="en-US" sz="1800" dirty="0">
                <a:highlight>
                  <a:srgbClr val="C0C0C0"/>
                </a:highlight>
                <a:latin typeface="Calibri" panose="020F0502020204030204" pitchFamily="34" charset="0"/>
                <a:cs typeface="Calibri" panose="020F0502020204030204" pitchFamily="34" charset="0"/>
                <a:sym typeface="Wingdings" pitchFamily="2" charset="2"/>
              </a:rPr>
              <a:t>“</a:t>
            </a:r>
            <a:r>
              <a:rPr lang="en-US" sz="1800" dirty="0">
                <a:highlight>
                  <a:srgbClr val="C0C0C0"/>
                </a:highlight>
                <a:latin typeface="Calibri" panose="020F0502020204030204" pitchFamily="34" charset="0"/>
                <a:cs typeface="Calibri" panose="020F0502020204030204" pitchFamily="34" charset="0"/>
              </a:rPr>
              <a:t>The BMS, IMD, and BSPD parts of the Shutdown Circuit must be </a:t>
            </a:r>
            <a:r>
              <a:rPr lang="en-US" sz="1800" b="1" dirty="0">
                <a:highlight>
                  <a:srgbClr val="C0C0C0"/>
                </a:highlight>
                <a:latin typeface="Calibri" panose="020F0502020204030204" pitchFamily="34" charset="0"/>
                <a:cs typeface="Calibri" panose="020F0502020204030204" pitchFamily="34" charset="0"/>
              </a:rPr>
              <a:t>Normally Open” (</a:t>
            </a:r>
            <a:r>
              <a:rPr lang="en-US" sz="1800" dirty="0">
                <a:highlight>
                  <a:srgbClr val="C0C0C0"/>
                </a:highlight>
                <a:latin typeface="Calibri" panose="020F0502020204030204" pitchFamily="34" charset="0"/>
                <a:cs typeface="Calibri" panose="020F0502020204030204" pitchFamily="34" charset="0"/>
              </a:rPr>
              <a:t>EV.7.1.3</a:t>
            </a:r>
            <a:r>
              <a:rPr lang="en-US" sz="1800" b="1" dirty="0">
                <a:highlight>
                  <a:srgbClr val="C0C0C0"/>
                </a:highlight>
                <a:latin typeface="Calibri" panose="020F0502020204030204" pitchFamily="34" charset="0"/>
                <a:cs typeface="Calibri" panose="020F0502020204030204" pitchFamily="34" charset="0"/>
              </a:rPr>
              <a:t>)</a:t>
            </a:r>
            <a:endParaRPr lang="en-US" sz="1800" dirty="0">
              <a:highlight>
                <a:srgbClr val="C0C0C0"/>
              </a:highlight>
              <a:latin typeface="Calibri" panose="020F0502020204030204" pitchFamily="34" charset="0"/>
              <a:cs typeface="Calibri" panose="020F0502020204030204" pitchFamily="34" charset="0"/>
              <a:sym typeface="Wingdings" pitchFamily="2" charset="2"/>
            </a:endParaRPr>
          </a:p>
          <a:p>
            <a:pPr marL="285750" indent="-285750">
              <a:buFontTx/>
              <a:buChar char="-"/>
            </a:pPr>
            <a:r>
              <a:rPr lang="en-US" sz="1800" dirty="0">
                <a:latin typeface="Calibri" panose="020F0502020204030204" pitchFamily="34" charset="0"/>
                <a:cs typeface="Calibri" panose="020F0502020204030204" pitchFamily="34" charset="0"/>
                <a:sym typeface="Wingdings" pitchFamily="2" charset="2"/>
              </a:rPr>
              <a:t>BMS indicators (LEDs) for drivers</a:t>
            </a:r>
          </a:p>
          <a:p>
            <a:pPr marL="285750" indent="-285750">
              <a:buFontTx/>
              <a:buChar char="-"/>
            </a:pPr>
            <a:endParaRPr lang="en-US" sz="1800" dirty="0">
              <a:latin typeface="Calibri" panose="020F0502020204030204" pitchFamily="34" charset="0"/>
              <a:cs typeface="Calibri" panose="020F0502020204030204" pitchFamily="34" charset="0"/>
              <a:sym typeface="Wingdings" pitchFamily="2" charset="2"/>
            </a:endParaRPr>
          </a:p>
          <a:p>
            <a:pPr marL="285750" indent="-285750">
              <a:buFontTx/>
              <a:buChar char="-"/>
            </a:pPr>
            <a:endParaRPr lang="en-US" sz="1800" dirty="0">
              <a:latin typeface="Calibri" panose="020F0502020204030204" pitchFamily="34" charset="0"/>
              <a:cs typeface="Calibri" panose="020F0502020204030204" pitchFamily="34" charset="0"/>
              <a:sym typeface="Wingdings" pitchFamily="2" charset="2"/>
            </a:endParaRPr>
          </a:p>
          <a:p>
            <a:pPr marL="285750" indent="-285750">
              <a:buFontTx/>
              <a:buChar char="-"/>
            </a:pPr>
            <a:endParaRPr lang="en-US" sz="1800" dirty="0">
              <a:latin typeface="Calibri" panose="020F0502020204030204" pitchFamily="34" charset="0"/>
              <a:cs typeface="Calibri" panose="020F0502020204030204" pitchFamily="34" charset="0"/>
              <a:sym typeface="Wingdings" pitchFamily="2" charset="2"/>
            </a:endParaRPr>
          </a:p>
          <a:p>
            <a:pPr marL="0" indent="0">
              <a:buNone/>
            </a:pPr>
            <a:endParaRPr lang="en-US" sz="1800" dirty="0">
              <a:latin typeface="Calibri" panose="020F0502020204030204" pitchFamily="34" charset="0"/>
              <a:cs typeface="Calibri" panose="020F0502020204030204" pitchFamily="34" charset="0"/>
              <a:sym typeface="Wingdings" pitchFamily="2" charset="2"/>
            </a:endParaRPr>
          </a:p>
          <a:p>
            <a:pPr marL="0" indent="0">
              <a:buNone/>
            </a:pPr>
            <a:endParaRPr lang="en-US" sz="1800" dirty="0">
              <a:latin typeface="Calibri" panose="020F0502020204030204" pitchFamily="34" charset="0"/>
              <a:cs typeface="Calibri" panose="020F0502020204030204" pitchFamily="34" charset="0"/>
              <a:sym typeface="Wingdings" pitchFamily="2" charset="2"/>
            </a:endParaRPr>
          </a:p>
          <a:p>
            <a:pPr marL="285750" indent="-285750">
              <a:buFontTx/>
              <a:buChar char="-"/>
            </a:pPr>
            <a:r>
              <a:rPr lang="en-US" sz="1800" dirty="0">
                <a:latin typeface="Calibri" panose="020F0502020204030204" pitchFamily="34" charset="0"/>
                <a:cs typeface="Calibri" panose="020F0502020204030204" pitchFamily="34" charset="0"/>
                <a:sym typeface="Wingdings" pitchFamily="2" charset="2"/>
              </a:rPr>
              <a:t>BMS fault limits:</a:t>
            </a:r>
          </a:p>
          <a:p>
            <a:pPr marL="285750" indent="-285750">
              <a:buFontTx/>
              <a:buChar char="-"/>
            </a:pPr>
            <a:endParaRPr lang="en-US" sz="1800" dirty="0">
              <a:latin typeface="Calibri" panose="020F0502020204030204" pitchFamily="34" charset="0"/>
              <a:cs typeface="Calibri" panose="020F0502020204030204" pitchFamily="34" charset="0"/>
              <a:sym typeface="Wingdings" pitchFamily="2" charset="2"/>
            </a:endParaRPr>
          </a:p>
          <a:p>
            <a:pPr marL="0" indent="0">
              <a:buNone/>
            </a:pPr>
            <a:endParaRPr lang="en-CN" dirty="0"/>
          </a:p>
        </p:txBody>
      </p:sp>
      <p:pic>
        <p:nvPicPr>
          <p:cNvPr id="4" name="Picture 3" descr="A diagram of a circuit&#10;&#10;AI-generated content may be incorrect.">
            <a:extLst>
              <a:ext uri="{FF2B5EF4-FFF2-40B4-BE49-F238E27FC236}">
                <a16:creationId xmlns:a16="http://schemas.microsoft.com/office/drawing/2014/main" id="{50A9AB7D-F397-DFE3-DBDA-C4C9635AD28C}"/>
              </a:ext>
            </a:extLst>
          </p:cNvPr>
          <p:cNvPicPr>
            <a:picLocks noChangeAspect="1"/>
          </p:cNvPicPr>
          <p:nvPr/>
        </p:nvPicPr>
        <p:blipFill>
          <a:blip r:embed="rId3"/>
          <a:stretch>
            <a:fillRect/>
          </a:stretch>
        </p:blipFill>
        <p:spPr>
          <a:xfrm>
            <a:off x="6779691" y="2289913"/>
            <a:ext cx="2577606" cy="1379658"/>
          </a:xfrm>
          <a:prstGeom prst="rect">
            <a:avLst/>
          </a:prstGeom>
        </p:spPr>
      </p:pic>
      <p:pic>
        <p:nvPicPr>
          <p:cNvPr id="6" name="Picture 5" descr="A white text on a white background&#10;&#10;AI-generated content may be incorrect.">
            <a:extLst>
              <a:ext uri="{FF2B5EF4-FFF2-40B4-BE49-F238E27FC236}">
                <a16:creationId xmlns:a16="http://schemas.microsoft.com/office/drawing/2014/main" id="{90D79058-8E14-5309-6362-673EC33659EF}"/>
              </a:ext>
            </a:extLst>
          </p:cNvPr>
          <p:cNvPicPr>
            <a:picLocks noChangeAspect="1"/>
          </p:cNvPicPr>
          <p:nvPr/>
        </p:nvPicPr>
        <p:blipFill>
          <a:blip r:embed="rId4"/>
          <a:stretch>
            <a:fillRect/>
          </a:stretch>
        </p:blipFill>
        <p:spPr>
          <a:xfrm>
            <a:off x="1267428" y="2627744"/>
            <a:ext cx="5083035" cy="1629970"/>
          </a:xfrm>
          <a:prstGeom prst="rect">
            <a:avLst/>
          </a:prstGeom>
        </p:spPr>
      </p:pic>
      <p:pic>
        <p:nvPicPr>
          <p:cNvPr id="8" name="Picture 7">
            <a:extLst>
              <a:ext uri="{FF2B5EF4-FFF2-40B4-BE49-F238E27FC236}">
                <a16:creationId xmlns:a16="http://schemas.microsoft.com/office/drawing/2014/main" id="{F085D23B-71D3-B65C-001D-82FAB2111E5F}"/>
              </a:ext>
            </a:extLst>
          </p:cNvPr>
          <p:cNvPicPr>
            <a:picLocks noChangeAspect="1"/>
          </p:cNvPicPr>
          <p:nvPr/>
        </p:nvPicPr>
        <p:blipFill>
          <a:blip r:embed="rId5"/>
          <a:stretch>
            <a:fillRect/>
          </a:stretch>
        </p:blipFill>
        <p:spPr>
          <a:xfrm>
            <a:off x="1159218" y="4788540"/>
            <a:ext cx="5191245" cy="603453"/>
          </a:xfrm>
          <a:prstGeom prst="rect">
            <a:avLst/>
          </a:prstGeom>
        </p:spPr>
      </p:pic>
      <p:pic>
        <p:nvPicPr>
          <p:cNvPr id="11" name="Picture 10">
            <a:extLst>
              <a:ext uri="{FF2B5EF4-FFF2-40B4-BE49-F238E27FC236}">
                <a16:creationId xmlns:a16="http://schemas.microsoft.com/office/drawing/2014/main" id="{F178F9E5-EACF-C0FC-DB8A-2A362C31574E}"/>
              </a:ext>
            </a:extLst>
          </p:cNvPr>
          <p:cNvPicPr>
            <a:picLocks noChangeAspect="1"/>
          </p:cNvPicPr>
          <p:nvPr/>
        </p:nvPicPr>
        <p:blipFill>
          <a:blip r:embed="rId6"/>
          <a:stretch>
            <a:fillRect/>
          </a:stretch>
        </p:blipFill>
        <p:spPr>
          <a:xfrm>
            <a:off x="1159218" y="5447133"/>
            <a:ext cx="5458224" cy="397670"/>
          </a:xfrm>
          <a:prstGeom prst="rect">
            <a:avLst/>
          </a:prstGeom>
        </p:spPr>
      </p:pic>
      <p:pic>
        <p:nvPicPr>
          <p:cNvPr id="13" name="Picture 12" descr="A table of numbers and letters&#10;&#10;AI-generated content may be incorrect.">
            <a:extLst>
              <a:ext uri="{FF2B5EF4-FFF2-40B4-BE49-F238E27FC236}">
                <a16:creationId xmlns:a16="http://schemas.microsoft.com/office/drawing/2014/main" id="{7E80AA51-4746-895D-BC32-708363F2D203}"/>
              </a:ext>
            </a:extLst>
          </p:cNvPr>
          <p:cNvPicPr>
            <a:picLocks noChangeAspect="1"/>
          </p:cNvPicPr>
          <p:nvPr/>
        </p:nvPicPr>
        <p:blipFill>
          <a:blip r:embed="rId7"/>
          <a:stretch>
            <a:fillRect/>
          </a:stretch>
        </p:blipFill>
        <p:spPr>
          <a:xfrm>
            <a:off x="6779691" y="3925702"/>
            <a:ext cx="1611312" cy="2393949"/>
          </a:xfrm>
          <a:prstGeom prst="rect">
            <a:avLst/>
          </a:prstGeom>
        </p:spPr>
      </p:pic>
      <p:sp>
        <p:nvSpPr>
          <p:cNvPr id="14" name="TextBox 13">
            <a:extLst>
              <a:ext uri="{FF2B5EF4-FFF2-40B4-BE49-F238E27FC236}">
                <a16:creationId xmlns:a16="http://schemas.microsoft.com/office/drawing/2014/main" id="{51679110-5EA6-292C-EB70-F6707466AF3F}"/>
              </a:ext>
            </a:extLst>
          </p:cNvPr>
          <p:cNvSpPr txBox="1"/>
          <p:nvPr/>
        </p:nvSpPr>
        <p:spPr>
          <a:xfrm>
            <a:off x="1159218" y="5959116"/>
            <a:ext cx="4701736" cy="292388"/>
          </a:xfrm>
          <a:prstGeom prst="rect">
            <a:avLst/>
          </a:prstGeom>
          <a:noFill/>
        </p:spPr>
        <p:txBody>
          <a:bodyPr wrap="none" rtlCol="0">
            <a:spAutoFit/>
          </a:bodyPr>
          <a:lstStyle/>
          <a:p>
            <a:r>
              <a:rPr lang="en-CN" sz="1300" dirty="0">
                <a:latin typeface="Calibri" panose="020F0502020204030204" pitchFamily="34" charset="0"/>
                <a:cs typeface="Calibri" panose="020F0502020204030204" pitchFamily="34" charset="0"/>
              </a:rPr>
              <a:t>(reference: </a:t>
            </a:r>
            <a:r>
              <a:rPr lang="en-US" sz="1300" dirty="0">
                <a:latin typeface="Calibri" panose="020F0502020204030204" pitchFamily="34" charset="0"/>
                <a:cs typeface="Calibri" panose="020F0502020204030204" pitchFamily="34" charset="0"/>
              </a:rPr>
              <a:t>SONY/Murata VTC6 datasheet &amp; FSAE_Rules_2026_V1</a:t>
            </a:r>
            <a:r>
              <a:rPr lang="en-CN" sz="13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740165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8ACE8-0AD9-F7B1-6B65-A6E3FEEEA2A5}"/>
              </a:ext>
            </a:extLst>
          </p:cNvPr>
          <p:cNvSpPr>
            <a:spLocks noGrp="1"/>
          </p:cNvSpPr>
          <p:nvPr>
            <p:ph type="title"/>
          </p:nvPr>
        </p:nvSpPr>
        <p:spPr>
          <a:xfrm>
            <a:off x="658677" y="176135"/>
            <a:ext cx="10515600" cy="1325563"/>
          </a:xfrm>
        </p:spPr>
        <p:txBody>
          <a:bodyPr>
            <a:normAutofit/>
          </a:bodyPr>
          <a:lstStyle/>
          <a:p>
            <a:r>
              <a:rPr lang="en-US" sz="3000" dirty="0">
                <a:latin typeface="Calibri" panose="020F0502020204030204" pitchFamily="34" charset="0"/>
                <a:cs typeface="Calibri" panose="020F0502020204030204" pitchFamily="34" charset="0"/>
              </a:rPr>
              <a:t>H</a:t>
            </a:r>
            <a:r>
              <a:rPr lang="en-CN" sz="3000" dirty="0">
                <a:latin typeface="Calibri" panose="020F0502020204030204" pitchFamily="34" charset="0"/>
                <a:cs typeface="Calibri" panose="020F0502020204030204" pitchFamily="34" charset="0"/>
              </a:rPr>
              <a:t>ow system monitors unsafe conditions </a:t>
            </a:r>
            <a:r>
              <a:rPr lang="en-CN" sz="3000" dirty="0">
                <a:latin typeface="Calibri" panose="020F0502020204030204" pitchFamily="34" charset="0"/>
                <a:cs typeface="Calibri" panose="020F0502020204030204" pitchFamily="34" charset="0"/>
                <a:sym typeface="Wingdings" pitchFamily="2" charset="2"/>
              </a:rPr>
              <a:t> </a:t>
            </a:r>
            <a:r>
              <a:rPr lang="en-CN" sz="3000" dirty="0">
                <a:latin typeface="Calibri" panose="020F0502020204030204" pitchFamily="34" charset="0"/>
                <a:cs typeface="Calibri" panose="020F0502020204030204" pitchFamily="34" charset="0"/>
              </a:rPr>
              <a:t>BMS fault</a:t>
            </a:r>
          </a:p>
        </p:txBody>
      </p:sp>
      <p:pic>
        <p:nvPicPr>
          <p:cNvPr id="5" name="Content Placeholder 4" descr="A diagram of a computer&#10;&#10;AI-generated content may be incorrect.">
            <a:extLst>
              <a:ext uri="{FF2B5EF4-FFF2-40B4-BE49-F238E27FC236}">
                <a16:creationId xmlns:a16="http://schemas.microsoft.com/office/drawing/2014/main" id="{E3845007-64D3-9CF3-8D13-1FC9BE4CF3DE}"/>
              </a:ext>
            </a:extLst>
          </p:cNvPr>
          <p:cNvPicPr>
            <a:picLocks noGrp="1" noChangeAspect="1"/>
          </p:cNvPicPr>
          <p:nvPr>
            <p:ph idx="1"/>
          </p:nvPr>
        </p:nvPicPr>
        <p:blipFill>
          <a:blip r:embed="rId3"/>
          <a:stretch>
            <a:fillRect/>
          </a:stretch>
        </p:blipFill>
        <p:spPr>
          <a:xfrm>
            <a:off x="319548" y="1144588"/>
            <a:ext cx="8721672" cy="5414400"/>
          </a:xfrm>
        </p:spPr>
      </p:pic>
      <p:sp>
        <p:nvSpPr>
          <p:cNvPr id="11" name="TextBox 10">
            <a:extLst>
              <a:ext uri="{FF2B5EF4-FFF2-40B4-BE49-F238E27FC236}">
                <a16:creationId xmlns:a16="http://schemas.microsoft.com/office/drawing/2014/main" id="{BEBD42F4-4ED0-7BCF-94C1-AE4DA69323D8}"/>
              </a:ext>
            </a:extLst>
          </p:cNvPr>
          <p:cNvSpPr txBox="1"/>
          <p:nvPr/>
        </p:nvSpPr>
        <p:spPr>
          <a:xfrm>
            <a:off x="9158747" y="1144588"/>
            <a:ext cx="2845981" cy="4524315"/>
          </a:xfrm>
          <a:prstGeom prst="rect">
            <a:avLst/>
          </a:prstGeom>
          <a:noFill/>
        </p:spPr>
        <p:txBody>
          <a:bodyPr wrap="square" rtlCol="0">
            <a:spAutoFit/>
          </a:bodyPr>
          <a:lstStyle/>
          <a:p>
            <a:r>
              <a:rPr lang="en-US" sz="1600" dirty="0">
                <a:highlight>
                  <a:srgbClr val="FFFF00"/>
                </a:highlight>
                <a:latin typeface="Calibri" panose="020F0502020204030204" pitchFamily="34" charset="0"/>
                <a:cs typeface="Calibri" panose="020F0502020204030204" pitchFamily="34" charset="0"/>
              </a:rPr>
              <a:t>When</a:t>
            </a:r>
            <a:r>
              <a:rPr lang="en-CN" sz="1600" dirty="0">
                <a:highlight>
                  <a:srgbClr val="FFFF00"/>
                </a:highlight>
                <a:latin typeface="Calibri" panose="020F0502020204030204" pitchFamily="34" charset="0"/>
                <a:cs typeface="Calibri" panose="020F0502020204030204" pitchFamily="34" charset="0"/>
              </a:rPr>
              <a:t> a cell or a module has left its safe range, open the shutdown circuit.</a:t>
            </a:r>
          </a:p>
          <a:p>
            <a:endParaRPr lang="en-CN" sz="1600" b="1" dirty="0">
              <a:latin typeface="Calibri" panose="020F0502020204030204" pitchFamily="34" charset="0"/>
              <a:cs typeface="Calibri" panose="020F0502020204030204" pitchFamily="34" charset="0"/>
            </a:endParaRPr>
          </a:p>
          <a:p>
            <a:r>
              <a:rPr lang="en-CN" sz="1600" b="1" dirty="0">
                <a:latin typeface="Calibri" panose="020F0502020204030204" pitchFamily="34" charset="0"/>
                <a:cs typeface="Calibri" panose="020F0502020204030204" pitchFamily="34" charset="0"/>
              </a:rPr>
              <a:t>U4: LM339 (four comparators)</a:t>
            </a:r>
          </a:p>
          <a:p>
            <a:r>
              <a:rPr lang="en-US" sz="1600" dirty="0">
                <a:latin typeface="Calibri" panose="020F0502020204030204" pitchFamily="34" charset="0"/>
                <a:cs typeface="Calibri" panose="020F0502020204030204" pitchFamily="34" charset="0"/>
              </a:rPr>
              <a:t>E</a:t>
            </a:r>
            <a:r>
              <a:rPr lang="en-CN" sz="1600" dirty="0">
                <a:latin typeface="Calibri" panose="020F0502020204030204" pitchFamily="34" charset="0"/>
                <a:cs typeface="Calibri" panose="020F0502020204030204" pitchFamily="34" charset="0"/>
              </a:rPr>
              <a:t>ach one holds a fixed voltage on one input and a live signal on the other, and outputs “yes/no”</a:t>
            </a:r>
          </a:p>
          <a:p>
            <a:endParaRPr lang="en-CN" sz="1600" dirty="0">
              <a:latin typeface="Calibri" panose="020F0502020204030204" pitchFamily="34" charset="0"/>
              <a:cs typeface="Calibri" panose="020F0502020204030204" pitchFamily="34" charset="0"/>
            </a:endParaRPr>
          </a:p>
          <a:p>
            <a:pPr marL="285750" indent="-285750">
              <a:buFontTx/>
              <a:buChar char="-"/>
            </a:pPr>
            <a:r>
              <a:rPr lang="en-US" sz="1600" dirty="0">
                <a:latin typeface="Calibri" panose="020F0502020204030204" pitchFamily="34" charset="0"/>
                <a:cs typeface="Calibri" panose="020F0502020204030204" pitchFamily="34" charset="0"/>
              </a:rPr>
              <a:t>F</a:t>
            </a:r>
            <a:r>
              <a:rPr lang="en-CN" sz="1600" dirty="0">
                <a:latin typeface="Calibri" panose="020F0502020204030204" pitchFamily="34" charset="0"/>
                <a:cs typeface="Calibri" panose="020F0502020204030204" pitchFamily="34" charset="0"/>
              </a:rPr>
              <a:t>ixed voltage comes from resistor dividers off 2.5V ref</a:t>
            </a:r>
          </a:p>
          <a:p>
            <a:pPr marL="742950" lvl="1" indent="-285750">
              <a:buFontTx/>
              <a:buChar char="-"/>
            </a:pPr>
            <a:r>
              <a:rPr lang="en-US" sz="1600" dirty="0">
                <a:latin typeface="Calibri" panose="020F0502020204030204" pitchFamily="34" charset="0"/>
                <a:cs typeface="Calibri" panose="020F0502020204030204" pitchFamily="34" charset="0"/>
              </a:rPr>
              <a:t>R13/R14/R17: cell</a:t>
            </a:r>
          </a:p>
          <a:p>
            <a:pPr marL="742950" lvl="1" indent="-285750">
              <a:buFontTx/>
              <a:buChar char="-"/>
            </a:pPr>
            <a:r>
              <a:rPr lang="en-US" sz="1600" dirty="0">
                <a:latin typeface="Calibri" panose="020F0502020204030204" pitchFamily="34" charset="0"/>
                <a:cs typeface="Calibri" panose="020F0502020204030204" pitchFamily="34" charset="0"/>
              </a:rPr>
              <a:t>R18/R19: temperature</a:t>
            </a:r>
          </a:p>
          <a:p>
            <a:pPr marL="742950" lvl="1" indent="-285750">
              <a:buFontTx/>
              <a:buChar char="-"/>
            </a:pPr>
            <a:endParaRPr lang="en-CN" sz="1600" dirty="0">
              <a:latin typeface="Calibri" panose="020F0502020204030204" pitchFamily="34" charset="0"/>
              <a:cs typeface="Calibri" panose="020F0502020204030204" pitchFamily="34" charset="0"/>
            </a:endParaRPr>
          </a:p>
          <a:p>
            <a:pPr marL="285750" indent="-285750">
              <a:buFontTx/>
              <a:buChar char="-"/>
            </a:pPr>
            <a:r>
              <a:rPr lang="en-CN" sz="1600" dirty="0">
                <a:latin typeface="Calibri" panose="020F0502020204030204" pitchFamily="34" charset="0"/>
                <a:cs typeface="Calibri" panose="020F0502020204030204" pitchFamily="34" charset="0"/>
              </a:rPr>
              <a:t>LM339’s output are open-collector: only pull down, each need pull-up resistor</a:t>
            </a:r>
          </a:p>
          <a:p>
            <a:endParaRPr lang="en-CN" sz="1600"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0BE9D8EC-42DF-23C6-5123-B916C6C83672}"/>
              </a:ext>
            </a:extLst>
          </p:cNvPr>
          <p:cNvSpPr/>
          <p:nvPr/>
        </p:nvSpPr>
        <p:spPr>
          <a:xfrm>
            <a:off x="1309606" y="3270142"/>
            <a:ext cx="1301857" cy="9376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TextBox 12">
            <a:extLst>
              <a:ext uri="{FF2B5EF4-FFF2-40B4-BE49-F238E27FC236}">
                <a16:creationId xmlns:a16="http://schemas.microsoft.com/office/drawing/2014/main" id="{0310446D-45F8-B021-B30F-89A86854CAC6}"/>
              </a:ext>
            </a:extLst>
          </p:cNvPr>
          <p:cNvSpPr txBox="1"/>
          <p:nvPr/>
        </p:nvSpPr>
        <p:spPr>
          <a:xfrm>
            <a:off x="161797" y="3385023"/>
            <a:ext cx="1301857" cy="707886"/>
          </a:xfrm>
          <a:prstGeom prst="rect">
            <a:avLst/>
          </a:prstGeom>
          <a:noFill/>
        </p:spPr>
        <p:txBody>
          <a:bodyPr wrap="square" rtlCol="0">
            <a:spAutoFit/>
          </a:bodyPr>
          <a:lstStyle/>
          <a:p>
            <a:r>
              <a:rPr lang="en-CN" sz="1000" b="1" dirty="0">
                <a:highlight>
                  <a:srgbClr val="00FFFF"/>
                </a:highlight>
                <a:latin typeface="Calibri" panose="020F0502020204030204" pitchFamily="34" charset="0"/>
                <a:cs typeface="Calibri" panose="020F0502020204030204" pitchFamily="34" charset="0"/>
              </a:rPr>
              <a:t>U4D</a:t>
            </a:r>
            <a:r>
              <a:rPr lang="en-CN" sz="1000" dirty="0">
                <a:highlight>
                  <a:srgbClr val="00FFFF"/>
                </a:highlight>
                <a:latin typeface="Calibri" panose="020F0502020204030204" pitchFamily="34" charset="0"/>
                <a:cs typeface="Calibri" panose="020F0502020204030204" pitchFamily="34" charset="0"/>
              </a:rPr>
              <a:t>: TEMP_HOT</a:t>
            </a:r>
          </a:p>
          <a:p>
            <a:r>
              <a:rPr lang="en-US" sz="1000" dirty="0">
                <a:highlight>
                  <a:srgbClr val="00FFFF"/>
                </a:highlight>
                <a:latin typeface="Calibri" panose="020F0502020204030204" pitchFamily="34" charset="0"/>
                <a:cs typeface="Calibri" panose="020F0502020204030204" pitchFamily="34" charset="0"/>
              </a:rPr>
              <a:t>- F</a:t>
            </a:r>
            <a:r>
              <a:rPr lang="en-CN" sz="1000" dirty="0">
                <a:highlight>
                  <a:srgbClr val="00FFFF"/>
                </a:highlight>
                <a:latin typeface="Calibri" panose="020F0502020204030204" pitchFamily="34" charset="0"/>
                <a:cs typeface="Calibri" panose="020F0502020204030204" pitchFamily="34" charset="0"/>
              </a:rPr>
              <a:t>ixed ref: 1.734V</a:t>
            </a:r>
          </a:p>
          <a:p>
            <a:r>
              <a:rPr lang="en-CN" sz="1000" dirty="0">
                <a:highlight>
                  <a:srgbClr val="00FFFF"/>
                </a:highlight>
                <a:latin typeface="Calibri" panose="020F0502020204030204" pitchFamily="34" charset="0"/>
                <a:cs typeface="Calibri" panose="020F0502020204030204" pitchFamily="34" charset="0"/>
              </a:rPr>
              <a:t>- Faults hottest module above ~57C</a:t>
            </a:r>
          </a:p>
        </p:txBody>
      </p:sp>
      <p:sp>
        <p:nvSpPr>
          <p:cNvPr id="14" name="Rectangle 13">
            <a:extLst>
              <a:ext uri="{FF2B5EF4-FFF2-40B4-BE49-F238E27FC236}">
                <a16:creationId xmlns:a16="http://schemas.microsoft.com/office/drawing/2014/main" id="{494DD704-A7B0-0259-6E5A-8F626F0E37E8}"/>
              </a:ext>
            </a:extLst>
          </p:cNvPr>
          <p:cNvSpPr/>
          <p:nvPr/>
        </p:nvSpPr>
        <p:spPr>
          <a:xfrm>
            <a:off x="658677" y="4207790"/>
            <a:ext cx="2461512" cy="12465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TextBox 14">
            <a:extLst>
              <a:ext uri="{FF2B5EF4-FFF2-40B4-BE49-F238E27FC236}">
                <a16:creationId xmlns:a16="http://schemas.microsoft.com/office/drawing/2014/main" id="{123504AF-8BF1-50B9-66DF-00B35A72A1DF}"/>
              </a:ext>
            </a:extLst>
          </p:cNvPr>
          <p:cNvSpPr txBox="1"/>
          <p:nvPr/>
        </p:nvSpPr>
        <p:spPr>
          <a:xfrm>
            <a:off x="812725" y="5443032"/>
            <a:ext cx="2098725" cy="553998"/>
          </a:xfrm>
          <a:prstGeom prst="rect">
            <a:avLst/>
          </a:prstGeom>
          <a:noFill/>
        </p:spPr>
        <p:txBody>
          <a:bodyPr wrap="square" rtlCol="0">
            <a:spAutoFit/>
          </a:bodyPr>
          <a:lstStyle/>
          <a:p>
            <a:r>
              <a:rPr lang="en-CN" sz="1000" dirty="0">
                <a:highlight>
                  <a:srgbClr val="FF00FF"/>
                </a:highlight>
                <a:latin typeface="Calibri" panose="020F0502020204030204" pitchFamily="34" charset="0"/>
                <a:cs typeface="Calibri" panose="020F0502020204030204" pitchFamily="34" charset="0"/>
              </a:rPr>
              <a:t>U4A: watchdog RESET</a:t>
            </a:r>
          </a:p>
          <a:p>
            <a:pPr marL="171450" indent="-171450">
              <a:buFontTx/>
              <a:buChar char="-"/>
            </a:pPr>
            <a:r>
              <a:rPr lang="en-US" sz="1000" dirty="0">
                <a:highlight>
                  <a:srgbClr val="FF00FF"/>
                </a:highlight>
                <a:latin typeface="Calibri" panose="020F0502020204030204" pitchFamily="34" charset="0"/>
                <a:cs typeface="Calibri" panose="020F0502020204030204" pitchFamily="34" charset="0"/>
              </a:rPr>
              <a:t>F</a:t>
            </a:r>
            <a:r>
              <a:rPr lang="en-CN" sz="1000" dirty="0">
                <a:highlight>
                  <a:srgbClr val="FF00FF"/>
                </a:highlight>
                <a:latin typeface="Calibri" panose="020F0502020204030204" pitchFamily="34" charset="0"/>
                <a:cs typeface="Calibri" panose="020F0502020204030204" pitchFamily="34" charset="0"/>
              </a:rPr>
              <a:t>ixed ref: 1.65V</a:t>
            </a:r>
          </a:p>
          <a:p>
            <a:pPr marL="171450" indent="-171450">
              <a:buFontTx/>
              <a:buChar char="-"/>
            </a:pPr>
            <a:r>
              <a:rPr lang="en-US" sz="1000" dirty="0">
                <a:highlight>
                  <a:srgbClr val="FF00FF"/>
                </a:highlight>
                <a:latin typeface="Calibri" panose="020F0502020204030204" pitchFamily="34" charset="0"/>
                <a:cs typeface="Calibri" panose="020F0502020204030204" pitchFamily="34" charset="0"/>
              </a:rPr>
              <a:t>Fault: F</a:t>
            </a:r>
            <a:r>
              <a:rPr lang="en-CN" sz="1000" dirty="0">
                <a:highlight>
                  <a:srgbClr val="FF00FF"/>
                </a:highlight>
                <a:latin typeface="Calibri" panose="020F0502020204030204" pitchFamily="34" charset="0"/>
                <a:cs typeface="Calibri" panose="020F0502020204030204" pitchFamily="34" charset="0"/>
              </a:rPr>
              <a:t>irmware stopped running</a:t>
            </a:r>
          </a:p>
        </p:txBody>
      </p:sp>
      <p:sp>
        <p:nvSpPr>
          <p:cNvPr id="16" name="Rectangle 15">
            <a:extLst>
              <a:ext uri="{FF2B5EF4-FFF2-40B4-BE49-F238E27FC236}">
                <a16:creationId xmlns:a16="http://schemas.microsoft.com/office/drawing/2014/main" id="{097FC630-DB49-66E1-3892-720746ABCBDD}"/>
              </a:ext>
            </a:extLst>
          </p:cNvPr>
          <p:cNvSpPr/>
          <p:nvPr/>
        </p:nvSpPr>
        <p:spPr>
          <a:xfrm>
            <a:off x="5766757" y="1713142"/>
            <a:ext cx="1254529" cy="14334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TextBox 16">
            <a:extLst>
              <a:ext uri="{FF2B5EF4-FFF2-40B4-BE49-F238E27FC236}">
                <a16:creationId xmlns:a16="http://schemas.microsoft.com/office/drawing/2014/main" id="{F86E5DEF-E93B-A9C0-9C72-8C37ACC630BB}"/>
              </a:ext>
            </a:extLst>
          </p:cNvPr>
          <p:cNvSpPr txBox="1"/>
          <p:nvPr/>
        </p:nvSpPr>
        <p:spPr>
          <a:xfrm>
            <a:off x="5569789" y="1159144"/>
            <a:ext cx="2098725" cy="553998"/>
          </a:xfrm>
          <a:prstGeom prst="rect">
            <a:avLst/>
          </a:prstGeom>
          <a:noFill/>
        </p:spPr>
        <p:txBody>
          <a:bodyPr wrap="square" rtlCol="0">
            <a:spAutoFit/>
          </a:bodyPr>
          <a:lstStyle/>
          <a:p>
            <a:r>
              <a:rPr lang="en-US" sz="1000" dirty="0">
                <a:highlight>
                  <a:srgbClr val="00FF00"/>
                </a:highlight>
                <a:latin typeface="Calibri" panose="020F0502020204030204" pitchFamily="34" charset="0"/>
                <a:cs typeface="Calibri" panose="020F0502020204030204" pitchFamily="34" charset="0"/>
              </a:rPr>
              <a:t>U4B: VCELL Overvoltage</a:t>
            </a:r>
          </a:p>
          <a:p>
            <a:pPr marL="171450" indent="-171450">
              <a:buFontTx/>
              <a:buChar char="-"/>
            </a:pPr>
            <a:r>
              <a:rPr lang="en-US" sz="1000" dirty="0">
                <a:highlight>
                  <a:srgbClr val="00FF00"/>
                </a:highlight>
                <a:latin typeface="Calibri" panose="020F0502020204030204" pitchFamily="34" charset="0"/>
                <a:cs typeface="Calibri" panose="020F0502020204030204" pitchFamily="34" charset="0"/>
              </a:rPr>
              <a:t>Fixed ref: 2.096V</a:t>
            </a:r>
          </a:p>
          <a:p>
            <a:pPr marL="171450" indent="-171450">
              <a:buFontTx/>
              <a:buChar char="-"/>
            </a:pPr>
            <a:r>
              <a:rPr lang="en-US" sz="1000" dirty="0">
                <a:highlight>
                  <a:srgbClr val="00FF00"/>
                </a:highlight>
                <a:latin typeface="Calibri" panose="020F0502020204030204" pitchFamily="34" charset="0"/>
                <a:cs typeface="Calibri" panose="020F0502020204030204" pitchFamily="34" charset="0"/>
              </a:rPr>
              <a:t>F</a:t>
            </a:r>
            <a:r>
              <a:rPr lang="en-CN" sz="1000" dirty="0">
                <a:highlight>
                  <a:srgbClr val="00FF00"/>
                </a:highlight>
                <a:latin typeface="Calibri" panose="020F0502020204030204" pitchFamily="34" charset="0"/>
                <a:cs typeface="Calibri" panose="020F0502020204030204" pitchFamily="34" charset="0"/>
              </a:rPr>
              <a:t>aults when cell above 4.192V</a:t>
            </a:r>
          </a:p>
        </p:txBody>
      </p:sp>
      <p:sp>
        <p:nvSpPr>
          <p:cNvPr id="18" name="TextBox 17">
            <a:extLst>
              <a:ext uri="{FF2B5EF4-FFF2-40B4-BE49-F238E27FC236}">
                <a16:creationId xmlns:a16="http://schemas.microsoft.com/office/drawing/2014/main" id="{F3B65148-D17A-9C0E-EE85-2B6C5C10810C}"/>
              </a:ext>
            </a:extLst>
          </p:cNvPr>
          <p:cNvSpPr txBox="1"/>
          <p:nvPr/>
        </p:nvSpPr>
        <p:spPr>
          <a:xfrm>
            <a:off x="7060023" y="2617758"/>
            <a:ext cx="2098725" cy="553998"/>
          </a:xfrm>
          <a:prstGeom prst="rect">
            <a:avLst/>
          </a:prstGeom>
          <a:noFill/>
        </p:spPr>
        <p:txBody>
          <a:bodyPr wrap="square" rtlCol="0">
            <a:spAutoFit/>
          </a:bodyPr>
          <a:lstStyle/>
          <a:p>
            <a:r>
              <a:rPr lang="en-US" sz="1000" dirty="0">
                <a:highlight>
                  <a:srgbClr val="00FF00"/>
                </a:highlight>
                <a:latin typeface="Calibri" panose="020F0502020204030204" pitchFamily="34" charset="0"/>
                <a:cs typeface="Calibri" panose="020F0502020204030204" pitchFamily="34" charset="0"/>
              </a:rPr>
              <a:t>U4C: VCELL Undervoltage</a:t>
            </a:r>
          </a:p>
          <a:p>
            <a:pPr marL="171450" indent="-171450">
              <a:buFontTx/>
              <a:buChar char="-"/>
            </a:pPr>
            <a:r>
              <a:rPr lang="en-US" sz="1000" dirty="0">
                <a:highlight>
                  <a:srgbClr val="00FF00"/>
                </a:highlight>
                <a:latin typeface="Calibri" panose="020F0502020204030204" pitchFamily="34" charset="0"/>
                <a:cs typeface="Calibri" panose="020F0502020204030204" pitchFamily="34" charset="0"/>
              </a:rPr>
              <a:t>Fixed ref: 1.246V</a:t>
            </a:r>
          </a:p>
          <a:p>
            <a:pPr marL="171450" indent="-171450">
              <a:buFontTx/>
              <a:buChar char="-"/>
            </a:pPr>
            <a:r>
              <a:rPr lang="en-US" sz="1000" dirty="0">
                <a:highlight>
                  <a:srgbClr val="00FF00"/>
                </a:highlight>
                <a:latin typeface="Calibri" panose="020F0502020204030204" pitchFamily="34" charset="0"/>
                <a:cs typeface="Calibri" panose="020F0502020204030204" pitchFamily="34" charset="0"/>
              </a:rPr>
              <a:t>F</a:t>
            </a:r>
            <a:r>
              <a:rPr lang="en-CN" sz="1000" dirty="0">
                <a:highlight>
                  <a:srgbClr val="00FF00"/>
                </a:highlight>
                <a:latin typeface="Calibri" panose="020F0502020204030204" pitchFamily="34" charset="0"/>
                <a:cs typeface="Calibri" panose="020F0502020204030204" pitchFamily="34" charset="0"/>
              </a:rPr>
              <a:t>aults when cell below 2.493V</a:t>
            </a:r>
          </a:p>
        </p:txBody>
      </p:sp>
      <p:sp>
        <p:nvSpPr>
          <p:cNvPr id="19" name="Rectangle 18">
            <a:extLst>
              <a:ext uri="{FF2B5EF4-FFF2-40B4-BE49-F238E27FC236}">
                <a16:creationId xmlns:a16="http://schemas.microsoft.com/office/drawing/2014/main" id="{CF6E113D-6770-DBBC-A4CD-710C22B3ADBF}"/>
              </a:ext>
            </a:extLst>
          </p:cNvPr>
          <p:cNvSpPr/>
          <p:nvPr/>
        </p:nvSpPr>
        <p:spPr>
          <a:xfrm>
            <a:off x="7364865" y="1888435"/>
            <a:ext cx="795162" cy="7293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Rectangle 20">
            <a:extLst>
              <a:ext uri="{FF2B5EF4-FFF2-40B4-BE49-F238E27FC236}">
                <a16:creationId xmlns:a16="http://schemas.microsoft.com/office/drawing/2014/main" id="{E88DA229-BC15-F37C-EFE6-66115796FA17}"/>
              </a:ext>
            </a:extLst>
          </p:cNvPr>
          <p:cNvSpPr/>
          <p:nvPr/>
        </p:nvSpPr>
        <p:spPr>
          <a:xfrm>
            <a:off x="1709044" y="1501698"/>
            <a:ext cx="2461512" cy="16700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2" name="TextBox 21">
            <a:extLst>
              <a:ext uri="{FF2B5EF4-FFF2-40B4-BE49-F238E27FC236}">
                <a16:creationId xmlns:a16="http://schemas.microsoft.com/office/drawing/2014/main" id="{FE67ADE2-2522-0F82-1492-8FEA6BB01316}"/>
              </a:ext>
            </a:extLst>
          </p:cNvPr>
          <p:cNvSpPr txBox="1"/>
          <p:nvPr/>
        </p:nvSpPr>
        <p:spPr>
          <a:xfrm>
            <a:off x="4075250" y="1380613"/>
            <a:ext cx="1301857" cy="1892826"/>
          </a:xfrm>
          <a:prstGeom prst="rect">
            <a:avLst/>
          </a:prstGeom>
          <a:noFill/>
        </p:spPr>
        <p:txBody>
          <a:bodyPr wrap="square" rtlCol="0">
            <a:spAutoFit/>
          </a:bodyPr>
          <a:lstStyle/>
          <a:p>
            <a:r>
              <a:rPr lang="en-CN" sz="900" b="1" dirty="0">
                <a:highlight>
                  <a:srgbClr val="C0C0C0"/>
                </a:highlight>
                <a:latin typeface="Calibri" panose="020F0502020204030204" pitchFamily="34" charset="0"/>
                <a:cs typeface="Calibri" panose="020F0502020204030204" pitchFamily="34" charset="0"/>
              </a:rPr>
              <a:t>Gate for timing</a:t>
            </a:r>
          </a:p>
          <a:p>
            <a:r>
              <a:rPr lang="en-CN" sz="900" dirty="0">
                <a:highlight>
                  <a:srgbClr val="C0C0C0"/>
                </a:highlight>
                <a:latin typeface="Calibri" panose="020F0502020204030204" pitchFamily="34" charset="0"/>
                <a:cs typeface="Calibri" panose="020F0502020204030204" pitchFamily="34" charset="0"/>
              </a:rPr>
              <a:t>VCELL is only a real cell voltage while mux is pointed to a real cell (between steps are garbage)</a:t>
            </a:r>
          </a:p>
          <a:p>
            <a:r>
              <a:rPr lang="en-CN" sz="900" dirty="0">
                <a:highlight>
                  <a:srgbClr val="C0C0C0"/>
                </a:highlight>
                <a:latin typeface="Calibri" panose="020F0502020204030204" pitchFamily="34" charset="0"/>
                <a:cs typeface="Calibri" panose="020F0502020204030204" pitchFamily="34" charset="0"/>
              </a:rPr>
              <a:t>VCELL comparators only count when valid </a:t>
            </a:r>
          </a:p>
          <a:p>
            <a:endParaRPr lang="en-CN" sz="900" dirty="0">
              <a:highlight>
                <a:srgbClr val="C0C0C0"/>
              </a:highlight>
              <a:latin typeface="Calibri" panose="020F0502020204030204" pitchFamily="34" charset="0"/>
              <a:cs typeface="Calibri" panose="020F0502020204030204" pitchFamily="34" charset="0"/>
              <a:sym typeface="Wingdings" pitchFamily="2" charset="2"/>
            </a:endParaRPr>
          </a:p>
          <a:p>
            <a:r>
              <a:rPr lang="en-CN" sz="900" dirty="0">
                <a:highlight>
                  <a:srgbClr val="C0C0C0"/>
                </a:highlight>
                <a:latin typeface="Calibri" panose="020F0502020204030204" pitchFamily="34" charset="0"/>
                <a:cs typeface="Calibri" panose="020F0502020204030204" pitchFamily="34" charset="0"/>
                <a:sym typeface="Wingdings" pitchFamily="2" charset="2"/>
              </a:rPr>
              <a:t>- U3 decodes mux </a:t>
            </a:r>
          </a:p>
          <a:p>
            <a:r>
              <a:rPr lang="en-CN" sz="900" dirty="0">
                <a:highlight>
                  <a:srgbClr val="C0C0C0"/>
                </a:highlight>
                <a:latin typeface="Calibri" panose="020F0502020204030204" pitchFamily="34" charset="0"/>
                <a:cs typeface="Calibri" panose="020F0502020204030204" pitchFamily="34" charset="0"/>
                <a:sym typeface="Wingdings" pitchFamily="2" charset="2"/>
              </a:rPr>
              <a:t>  address; </a:t>
            </a:r>
          </a:p>
          <a:p>
            <a:r>
              <a:rPr lang="en-CN" sz="900" dirty="0">
                <a:highlight>
                  <a:srgbClr val="C0C0C0"/>
                </a:highlight>
                <a:latin typeface="Calibri" panose="020F0502020204030204" pitchFamily="34" charset="0"/>
                <a:cs typeface="Calibri" panose="020F0502020204030204" pitchFamily="34" charset="0"/>
                <a:sym typeface="Wingdings" pitchFamily="2" charset="2"/>
              </a:rPr>
              <a:t>- U5 combines that with</a:t>
            </a:r>
          </a:p>
          <a:p>
            <a:r>
              <a:rPr lang="en-CN" sz="900" dirty="0">
                <a:highlight>
                  <a:srgbClr val="C0C0C0"/>
                </a:highlight>
                <a:latin typeface="Calibri" panose="020F0502020204030204" pitchFamily="34" charset="0"/>
                <a:cs typeface="Calibri" panose="020F0502020204030204" pitchFamily="34" charset="0"/>
                <a:sym typeface="Wingdings" pitchFamily="2" charset="2"/>
              </a:rPr>
              <a:t>   FAULT_N</a:t>
            </a:r>
            <a:endParaRPr lang="en-CN" sz="900" dirty="0">
              <a:highlight>
                <a:srgbClr val="C0C0C0"/>
              </a:highlight>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3ED7011F-F9F2-A71A-1432-353AA6CF5BFB}"/>
              </a:ext>
            </a:extLst>
          </p:cNvPr>
          <p:cNvSpPr txBox="1"/>
          <p:nvPr/>
        </p:nvSpPr>
        <p:spPr>
          <a:xfrm>
            <a:off x="3553918" y="4241892"/>
            <a:ext cx="1233275" cy="507831"/>
          </a:xfrm>
          <a:prstGeom prst="rect">
            <a:avLst/>
          </a:prstGeom>
          <a:noFill/>
        </p:spPr>
        <p:txBody>
          <a:bodyPr wrap="square" rtlCol="0">
            <a:spAutoFit/>
          </a:bodyPr>
          <a:lstStyle/>
          <a:p>
            <a:r>
              <a:rPr lang="en-CN" sz="900" b="1" dirty="0">
                <a:highlight>
                  <a:srgbClr val="C0C0C0"/>
                </a:highlight>
                <a:latin typeface="Calibri" panose="020F0502020204030204" pitchFamily="34" charset="0"/>
                <a:cs typeface="Calibri" panose="020F0502020204030204" pitchFamily="34" charset="0"/>
              </a:rPr>
              <a:t>Two OR gates</a:t>
            </a:r>
          </a:p>
          <a:p>
            <a:r>
              <a:rPr lang="en-CN" sz="900" dirty="0">
                <a:highlight>
                  <a:srgbClr val="C0C0C0"/>
                </a:highlight>
                <a:latin typeface="Calibri" panose="020F0502020204030204" pitchFamily="34" charset="0"/>
                <a:cs typeface="Calibri" panose="020F0502020204030204" pitchFamily="34" charset="0"/>
              </a:rPr>
              <a:t>Any of 4 fault sources high </a:t>
            </a:r>
            <a:r>
              <a:rPr lang="en-CN" sz="900" dirty="0">
                <a:highlight>
                  <a:srgbClr val="C0C0C0"/>
                </a:highlight>
                <a:latin typeface="Calibri" panose="020F0502020204030204" pitchFamily="34" charset="0"/>
                <a:cs typeface="Calibri" panose="020F0502020204030204" pitchFamily="34" charset="0"/>
                <a:sym typeface="Wingdings" pitchFamily="2" charset="2"/>
              </a:rPr>
              <a:t> SET high</a:t>
            </a:r>
            <a:endParaRPr lang="en-CN" sz="900" dirty="0">
              <a:highlight>
                <a:srgbClr val="C0C0C0"/>
              </a:highlight>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061627F2-B9F0-0A8A-1988-D08D990B6D48}"/>
              </a:ext>
            </a:extLst>
          </p:cNvPr>
          <p:cNvSpPr txBox="1"/>
          <p:nvPr/>
        </p:nvSpPr>
        <p:spPr>
          <a:xfrm>
            <a:off x="4533140" y="4554057"/>
            <a:ext cx="1499967" cy="1061829"/>
          </a:xfrm>
          <a:prstGeom prst="rect">
            <a:avLst/>
          </a:prstGeom>
          <a:noFill/>
        </p:spPr>
        <p:txBody>
          <a:bodyPr wrap="square" rtlCol="0">
            <a:spAutoFit/>
          </a:bodyPr>
          <a:lstStyle/>
          <a:p>
            <a:r>
              <a:rPr lang="en-CN" sz="900" b="1" dirty="0">
                <a:highlight>
                  <a:srgbClr val="C0C0C0"/>
                </a:highlight>
                <a:latin typeface="Calibri" panose="020F0502020204030204" pitchFamily="34" charset="0"/>
                <a:cs typeface="Calibri" panose="020F0502020204030204" pitchFamily="34" charset="0"/>
              </a:rPr>
              <a:t>Two NOR gates</a:t>
            </a:r>
          </a:p>
          <a:p>
            <a:r>
              <a:rPr lang="en-CN" sz="900" dirty="0">
                <a:highlight>
                  <a:srgbClr val="C0C0C0"/>
                </a:highlight>
                <a:latin typeface="Calibri" panose="020F0502020204030204" pitchFamily="34" charset="0"/>
                <a:cs typeface="Calibri" panose="020F0502020204030204" pitchFamily="34" charset="0"/>
              </a:rPr>
              <a:t>SET high flips them, nothing on fault inputs can un-flip it, except SW1 pushbottom</a:t>
            </a:r>
          </a:p>
          <a:p>
            <a:r>
              <a:rPr lang="en-CN" sz="900" b="1" dirty="0">
                <a:highlight>
                  <a:srgbClr val="C0C0C0"/>
                </a:highlight>
                <a:latin typeface="Calibri" panose="020F0502020204030204" pitchFamily="34" charset="0"/>
                <a:cs typeface="Calibri" panose="020F0502020204030204" pitchFamily="34" charset="0"/>
              </a:rPr>
              <a:t>Output</a:t>
            </a:r>
            <a:r>
              <a:rPr lang="en-CN" sz="900" dirty="0">
                <a:highlight>
                  <a:srgbClr val="C0C0C0"/>
                </a:highlight>
                <a:latin typeface="Calibri" panose="020F0502020204030204" pitchFamily="34" charset="0"/>
                <a:cs typeface="Calibri" panose="020F0502020204030204" pitchFamily="34" charset="0"/>
              </a:rPr>
              <a:t>: </a:t>
            </a:r>
          </a:p>
          <a:p>
            <a:r>
              <a:rPr lang="en-CN" sz="900" dirty="0">
                <a:highlight>
                  <a:srgbClr val="C0C0C0"/>
                </a:highlight>
                <a:latin typeface="Calibri" panose="020F0502020204030204" pitchFamily="34" charset="0"/>
                <a:cs typeface="Calibri" panose="020F0502020204030204" pitchFamily="34" charset="0"/>
              </a:rPr>
              <a:t>FAULT (high when tripped)</a:t>
            </a:r>
          </a:p>
          <a:p>
            <a:r>
              <a:rPr lang="en-CN" sz="900" dirty="0">
                <a:highlight>
                  <a:srgbClr val="C0C0C0"/>
                </a:highlight>
                <a:latin typeface="Calibri" panose="020F0502020204030204" pitchFamily="34" charset="0"/>
                <a:cs typeface="Calibri" panose="020F0502020204030204" pitchFamily="34" charset="0"/>
              </a:rPr>
              <a:t>/FAULT (low when tripped)</a:t>
            </a:r>
          </a:p>
        </p:txBody>
      </p:sp>
      <p:sp>
        <p:nvSpPr>
          <p:cNvPr id="26" name="Rectangle 25">
            <a:extLst>
              <a:ext uri="{FF2B5EF4-FFF2-40B4-BE49-F238E27FC236}">
                <a16:creationId xmlns:a16="http://schemas.microsoft.com/office/drawing/2014/main" id="{AD89BBD7-E2D7-D73E-CC15-A29D2D164D17}"/>
              </a:ext>
            </a:extLst>
          </p:cNvPr>
          <p:cNvSpPr/>
          <p:nvPr/>
        </p:nvSpPr>
        <p:spPr>
          <a:xfrm>
            <a:off x="5950634" y="4749722"/>
            <a:ext cx="2098726" cy="1061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9" name="TextBox 28">
            <a:extLst>
              <a:ext uri="{FF2B5EF4-FFF2-40B4-BE49-F238E27FC236}">
                <a16:creationId xmlns:a16="http://schemas.microsoft.com/office/drawing/2014/main" id="{BA10E145-59B5-D761-757B-AB157F2EA7F9}"/>
              </a:ext>
            </a:extLst>
          </p:cNvPr>
          <p:cNvSpPr txBox="1"/>
          <p:nvPr/>
        </p:nvSpPr>
        <p:spPr>
          <a:xfrm>
            <a:off x="8034430" y="4777289"/>
            <a:ext cx="1499967" cy="1061829"/>
          </a:xfrm>
          <a:prstGeom prst="rect">
            <a:avLst/>
          </a:prstGeom>
          <a:noFill/>
        </p:spPr>
        <p:txBody>
          <a:bodyPr wrap="square" rtlCol="0">
            <a:spAutoFit/>
          </a:bodyPr>
          <a:lstStyle/>
          <a:p>
            <a:r>
              <a:rPr lang="en-CN" sz="900" b="1" dirty="0">
                <a:highlight>
                  <a:srgbClr val="C0C0C0"/>
                </a:highlight>
                <a:latin typeface="Calibri" panose="020F0502020204030204" pitchFamily="34" charset="0"/>
                <a:cs typeface="Calibri" panose="020F0502020204030204" pitchFamily="34" charset="0"/>
              </a:rPr>
              <a:t>Act</a:t>
            </a:r>
          </a:p>
          <a:p>
            <a:r>
              <a:rPr lang="en-CN" sz="900" dirty="0">
                <a:highlight>
                  <a:srgbClr val="C0C0C0"/>
                </a:highlight>
                <a:latin typeface="Calibri" panose="020F0502020204030204" pitchFamily="34" charset="0"/>
                <a:cs typeface="Calibri" panose="020F0502020204030204" pitchFamily="34" charset="0"/>
              </a:rPr>
              <a:t>/FAULT drives Q1 </a:t>
            </a:r>
            <a:r>
              <a:rPr lang="en-CN" sz="900" dirty="0">
                <a:highlight>
                  <a:srgbClr val="C0C0C0"/>
                </a:highlight>
                <a:latin typeface="Calibri" panose="020F0502020204030204" pitchFamily="34" charset="0"/>
                <a:cs typeface="Calibri" panose="020F0502020204030204" pitchFamily="34" charset="0"/>
                <a:sym typeface="Wingdings" pitchFamily="2" charset="2"/>
              </a:rPr>
              <a:t> energizes K1’s coil</a:t>
            </a:r>
          </a:p>
          <a:p>
            <a:r>
              <a:rPr lang="en-CN" sz="900" dirty="0">
                <a:highlight>
                  <a:srgbClr val="C0C0C0"/>
                </a:highlight>
                <a:latin typeface="Calibri" panose="020F0502020204030204" pitchFamily="34" charset="0"/>
                <a:cs typeface="Calibri" panose="020F0502020204030204" pitchFamily="34" charset="0"/>
                <a:sym typeface="Wingdings" pitchFamily="2" charset="2"/>
              </a:rPr>
              <a:t>K1 contact normally opens and sits in shutdown loop b/w SDC_IN and OUT</a:t>
            </a:r>
          </a:p>
          <a:p>
            <a:endParaRPr lang="en-CN" sz="900" dirty="0">
              <a:highlight>
                <a:srgbClr val="C0C0C0"/>
              </a:highlight>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E921BFDE-055E-E8C0-92F8-462E97D35EDD}"/>
              </a:ext>
            </a:extLst>
          </p:cNvPr>
          <p:cNvSpPr txBox="1"/>
          <p:nvPr/>
        </p:nvSpPr>
        <p:spPr>
          <a:xfrm>
            <a:off x="5916477" y="5825823"/>
            <a:ext cx="4887235" cy="830997"/>
          </a:xfrm>
          <a:prstGeom prst="rect">
            <a:avLst/>
          </a:prstGeom>
          <a:noFill/>
        </p:spPr>
        <p:txBody>
          <a:bodyPr wrap="none" rtlCol="0">
            <a:spAutoFit/>
          </a:bodyPr>
          <a:lstStyle/>
          <a:p>
            <a:r>
              <a:rPr lang="en-CN" sz="1200" b="1" dirty="0">
                <a:highlight>
                  <a:srgbClr val="FFFF00"/>
                </a:highlight>
              </a:rPr>
              <a:t>Relay health state:</a:t>
            </a:r>
          </a:p>
          <a:p>
            <a:r>
              <a:rPr lang="en-CN" sz="1200" dirty="0">
                <a:highlight>
                  <a:srgbClr val="FFFF00"/>
                </a:highlight>
              </a:rPr>
              <a:t>/FAULT high </a:t>
            </a:r>
            <a:r>
              <a:rPr lang="en-CN" sz="1200" dirty="0">
                <a:highlight>
                  <a:srgbClr val="FFFF00"/>
                </a:highlight>
                <a:sym typeface="Wingdings" pitchFamily="2" charset="2"/>
              </a:rPr>
              <a:t> Q1 on  coil energized  contact closed  loop intact</a:t>
            </a:r>
          </a:p>
          <a:p>
            <a:r>
              <a:rPr lang="en-CN" sz="1200" b="1" dirty="0">
                <a:highlight>
                  <a:srgbClr val="FFFF00"/>
                </a:highlight>
                <a:sym typeface="Wingdings" pitchFamily="2" charset="2"/>
              </a:rPr>
              <a:t>FAULT state:</a:t>
            </a:r>
          </a:p>
          <a:p>
            <a:r>
              <a:rPr lang="en-CN" sz="1200" dirty="0">
                <a:highlight>
                  <a:srgbClr val="FFFF00"/>
                </a:highlight>
                <a:sym typeface="Wingdings" pitchFamily="2" charset="2"/>
              </a:rPr>
              <a:t>/FAULT low  Q1 off  coil drops  contact opens  loop broke</a:t>
            </a:r>
            <a:endParaRPr lang="en-CN" sz="1200" dirty="0">
              <a:highlight>
                <a:srgbClr val="FFFF00"/>
              </a:highlight>
            </a:endParaRPr>
          </a:p>
        </p:txBody>
      </p:sp>
      <p:sp>
        <p:nvSpPr>
          <p:cNvPr id="31" name="Rectangle 30">
            <a:extLst>
              <a:ext uri="{FF2B5EF4-FFF2-40B4-BE49-F238E27FC236}">
                <a16:creationId xmlns:a16="http://schemas.microsoft.com/office/drawing/2014/main" id="{6C462C20-DE89-5022-E2A8-5D543FB4C580}"/>
              </a:ext>
            </a:extLst>
          </p:cNvPr>
          <p:cNvSpPr/>
          <p:nvPr/>
        </p:nvSpPr>
        <p:spPr>
          <a:xfrm>
            <a:off x="8034430" y="3443870"/>
            <a:ext cx="679724" cy="12080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2" name="TextBox 31">
            <a:extLst>
              <a:ext uri="{FF2B5EF4-FFF2-40B4-BE49-F238E27FC236}">
                <a16:creationId xmlns:a16="http://schemas.microsoft.com/office/drawing/2014/main" id="{84690EFF-6056-5768-372F-D06B16E0C081}"/>
              </a:ext>
            </a:extLst>
          </p:cNvPr>
          <p:cNvSpPr txBox="1"/>
          <p:nvPr/>
        </p:nvSpPr>
        <p:spPr>
          <a:xfrm>
            <a:off x="8360094" y="4057419"/>
            <a:ext cx="1499967" cy="646331"/>
          </a:xfrm>
          <a:prstGeom prst="rect">
            <a:avLst/>
          </a:prstGeom>
          <a:noFill/>
        </p:spPr>
        <p:txBody>
          <a:bodyPr wrap="square" rtlCol="0">
            <a:spAutoFit/>
          </a:bodyPr>
          <a:lstStyle/>
          <a:p>
            <a:r>
              <a:rPr lang="en-CN" sz="900" b="1" dirty="0">
                <a:highlight>
                  <a:srgbClr val="FFFF00"/>
                </a:highlight>
                <a:latin typeface="Calibri" panose="020F0502020204030204" pitchFamily="34" charset="0"/>
                <a:cs typeface="Calibri" panose="020F0502020204030204" pitchFamily="34" charset="0"/>
              </a:rPr>
              <a:t>Driver Interface</a:t>
            </a:r>
          </a:p>
          <a:p>
            <a:r>
              <a:rPr lang="en-CN" sz="900" dirty="0">
                <a:highlight>
                  <a:srgbClr val="FFFF00"/>
                </a:highlight>
                <a:latin typeface="Calibri" panose="020F0502020204030204" pitchFamily="34" charset="0"/>
                <a:cs typeface="Calibri" panose="020F0502020204030204" pitchFamily="34" charset="0"/>
              </a:rPr>
              <a:t>FAULT drives Q2 </a:t>
            </a:r>
            <a:r>
              <a:rPr lang="en-CN" sz="900" dirty="0">
                <a:highlight>
                  <a:srgbClr val="FFFF00"/>
                </a:highlight>
                <a:latin typeface="Calibri" panose="020F0502020204030204" pitchFamily="34" charset="0"/>
                <a:cs typeface="Calibri" panose="020F0502020204030204" pitchFamily="34" charset="0"/>
                <a:sym typeface="Wingdings" pitchFamily="2" charset="2"/>
              </a:rPr>
              <a:t> lights BMS indicator, stays lit until reset b</a:t>
            </a:r>
            <a:r>
              <a:rPr lang="en-US" sz="900" dirty="0">
                <a:highlight>
                  <a:srgbClr val="FFFF00"/>
                </a:highlight>
                <a:latin typeface="Calibri" panose="020F0502020204030204" pitchFamily="34" charset="0"/>
                <a:cs typeface="Calibri" panose="020F0502020204030204" pitchFamily="34" charset="0"/>
              </a:rPr>
              <a:t>y a person at the car </a:t>
            </a:r>
            <a:endParaRPr lang="en-CN" sz="900" dirty="0">
              <a:highlight>
                <a:srgbClr val="FFFF00"/>
              </a:highligh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4000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8C4B9-9199-CAA5-A801-A170A2171C0B}"/>
              </a:ext>
            </a:extLst>
          </p:cNvPr>
          <p:cNvSpPr>
            <a:spLocks noGrp="1"/>
          </p:cNvSpPr>
          <p:nvPr>
            <p:ph type="title"/>
          </p:nvPr>
        </p:nvSpPr>
        <p:spPr/>
        <p:txBody>
          <a:bodyPr>
            <a:normAutofit/>
          </a:bodyPr>
          <a:lstStyle/>
          <a:p>
            <a:r>
              <a:rPr lang="en-CN" sz="3000" dirty="0">
                <a:latin typeface="Calibri" panose="020F0502020204030204" pitchFamily="34" charset="0"/>
                <a:cs typeface="Calibri" panose="020F0502020204030204" pitchFamily="34" charset="0"/>
              </a:rPr>
              <a:t>Cell Balancing</a:t>
            </a:r>
          </a:p>
        </p:txBody>
      </p:sp>
      <p:pic>
        <p:nvPicPr>
          <p:cNvPr id="6" name="Content Placeholder 5" descr="A diagram of a cell&#10;&#10;AI-generated content may be incorrect.">
            <a:extLst>
              <a:ext uri="{FF2B5EF4-FFF2-40B4-BE49-F238E27FC236}">
                <a16:creationId xmlns:a16="http://schemas.microsoft.com/office/drawing/2014/main" id="{F347D190-D7EE-2395-F8FE-84C79FAB8FE6}"/>
              </a:ext>
            </a:extLst>
          </p:cNvPr>
          <p:cNvPicPr>
            <a:picLocks noGrp="1" noChangeAspect="1"/>
          </p:cNvPicPr>
          <p:nvPr>
            <p:ph idx="1"/>
          </p:nvPr>
        </p:nvPicPr>
        <p:blipFill>
          <a:blip r:embed="rId3"/>
          <a:stretch>
            <a:fillRect/>
          </a:stretch>
        </p:blipFill>
        <p:spPr>
          <a:xfrm>
            <a:off x="0" y="2155543"/>
            <a:ext cx="3359130" cy="2245632"/>
          </a:xfrm>
        </p:spPr>
      </p:pic>
      <p:sp>
        <p:nvSpPr>
          <p:cNvPr id="7" name="Right Arrow 6">
            <a:extLst>
              <a:ext uri="{FF2B5EF4-FFF2-40B4-BE49-F238E27FC236}">
                <a16:creationId xmlns:a16="http://schemas.microsoft.com/office/drawing/2014/main" id="{258A6167-5758-6F49-BDE4-811D67FCDF53}"/>
              </a:ext>
            </a:extLst>
          </p:cNvPr>
          <p:cNvSpPr/>
          <p:nvPr/>
        </p:nvSpPr>
        <p:spPr>
          <a:xfrm>
            <a:off x="3270871" y="2464486"/>
            <a:ext cx="542925" cy="2714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8" name="Straight Connector 7">
            <a:extLst>
              <a:ext uri="{FF2B5EF4-FFF2-40B4-BE49-F238E27FC236}">
                <a16:creationId xmlns:a16="http://schemas.microsoft.com/office/drawing/2014/main" id="{00CEAB5D-28A8-DE4B-B2B0-89B80F46C489}"/>
              </a:ext>
            </a:extLst>
          </p:cNvPr>
          <p:cNvCxnSpPr>
            <a:cxnSpLocks/>
          </p:cNvCxnSpPr>
          <p:nvPr/>
        </p:nvCxnSpPr>
        <p:spPr>
          <a:xfrm>
            <a:off x="1935394" y="2369306"/>
            <a:ext cx="0" cy="733287"/>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6551B73-0D1B-EBAB-9C8E-D2AFAB00F34B}"/>
              </a:ext>
            </a:extLst>
          </p:cNvPr>
          <p:cNvCxnSpPr>
            <a:cxnSpLocks/>
          </p:cNvCxnSpPr>
          <p:nvPr/>
        </p:nvCxnSpPr>
        <p:spPr>
          <a:xfrm flipH="1">
            <a:off x="1935394" y="3102593"/>
            <a:ext cx="12287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021CA89-5F26-13D5-335D-0907E8633812}"/>
              </a:ext>
            </a:extLst>
          </p:cNvPr>
          <p:cNvCxnSpPr>
            <a:cxnSpLocks/>
          </p:cNvCxnSpPr>
          <p:nvPr/>
        </p:nvCxnSpPr>
        <p:spPr>
          <a:xfrm flipH="1">
            <a:off x="1935394" y="2369306"/>
            <a:ext cx="12287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DE4C88F-C045-DD57-74A9-91F3432F4C79}"/>
              </a:ext>
            </a:extLst>
          </p:cNvPr>
          <p:cNvCxnSpPr>
            <a:cxnSpLocks/>
          </p:cNvCxnSpPr>
          <p:nvPr/>
        </p:nvCxnSpPr>
        <p:spPr>
          <a:xfrm>
            <a:off x="3162089" y="2369306"/>
            <a:ext cx="0" cy="733287"/>
          </a:xfrm>
          <a:prstGeom prst="line">
            <a:avLst/>
          </a:prstGeom>
        </p:spPr>
        <p:style>
          <a:lnRef idx="2">
            <a:schemeClr val="accent1"/>
          </a:lnRef>
          <a:fillRef idx="0">
            <a:schemeClr val="accent1"/>
          </a:fillRef>
          <a:effectRef idx="1">
            <a:schemeClr val="accent1"/>
          </a:effectRef>
          <a:fontRef idx="minor">
            <a:schemeClr val="tx1"/>
          </a:fontRef>
        </p:style>
      </p:cxnSp>
      <p:pic>
        <p:nvPicPr>
          <p:cNvPr id="19" name="Picture 18" descr="A diagram of a circuit&#10;&#10;AI-generated content may be incorrect.">
            <a:extLst>
              <a:ext uri="{FF2B5EF4-FFF2-40B4-BE49-F238E27FC236}">
                <a16:creationId xmlns:a16="http://schemas.microsoft.com/office/drawing/2014/main" id="{B9995D02-AABF-2BDA-0D5B-4A9E74A86644}"/>
              </a:ext>
            </a:extLst>
          </p:cNvPr>
          <p:cNvPicPr>
            <a:picLocks noChangeAspect="1"/>
          </p:cNvPicPr>
          <p:nvPr/>
        </p:nvPicPr>
        <p:blipFill>
          <a:blip r:embed="rId4"/>
          <a:stretch>
            <a:fillRect/>
          </a:stretch>
        </p:blipFill>
        <p:spPr>
          <a:xfrm>
            <a:off x="3813796" y="2155543"/>
            <a:ext cx="4138332" cy="2153562"/>
          </a:xfrm>
          <a:prstGeom prst="rect">
            <a:avLst/>
          </a:prstGeom>
        </p:spPr>
      </p:pic>
      <p:sp>
        <p:nvSpPr>
          <p:cNvPr id="20" name="TextBox 19">
            <a:extLst>
              <a:ext uri="{FF2B5EF4-FFF2-40B4-BE49-F238E27FC236}">
                <a16:creationId xmlns:a16="http://schemas.microsoft.com/office/drawing/2014/main" id="{1E9919D9-8C14-AD6E-A410-EC15DD017A51}"/>
              </a:ext>
            </a:extLst>
          </p:cNvPr>
          <p:cNvSpPr txBox="1"/>
          <p:nvPr/>
        </p:nvSpPr>
        <p:spPr>
          <a:xfrm>
            <a:off x="3438304" y="216551"/>
            <a:ext cx="8278741" cy="1938992"/>
          </a:xfrm>
          <a:prstGeom prst="rect">
            <a:avLst/>
          </a:prstGeom>
          <a:noFill/>
        </p:spPr>
        <p:txBody>
          <a:bodyPr wrap="none" rtlCol="0">
            <a:spAutoFit/>
          </a:bodyPr>
          <a:lstStyle/>
          <a:p>
            <a:r>
              <a:rPr lang="en-CN" sz="1500" dirty="0">
                <a:latin typeface="Calibri" panose="020F0502020204030204" pitchFamily="34" charset="0"/>
                <a:cs typeface="Calibri" panose="020F0502020204030204" pitchFamily="34" charset="0"/>
              </a:rPr>
              <a:t>Why balancing: </a:t>
            </a:r>
            <a:r>
              <a:rPr lang="en-US" sz="1500" dirty="0">
                <a:latin typeface="Calibri" panose="020F0502020204030204" pitchFamily="34" charset="0"/>
                <a:cs typeface="Calibri" panose="020F0502020204030204" pitchFamily="34" charset="0"/>
              </a:rPr>
              <a:t>Each cell has a slightly different capacity, each self-discharges at a slightly different rate, </a:t>
            </a:r>
          </a:p>
          <a:p>
            <a:r>
              <a:rPr lang="en-US" sz="1500" dirty="0">
                <a:latin typeface="Calibri" panose="020F0502020204030204" pitchFamily="34" charset="0"/>
                <a:cs typeface="Calibri" panose="020F0502020204030204" pitchFamily="34" charset="0"/>
              </a:rPr>
              <a:t>and the ones in the middle of the pack run warmer and age faster. Thus, the cells drift apart.</a:t>
            </a:r>
          </a:p>
          <a:p>
            <a:endParaRPr lang="en-US" sz="1500" dirty="0">
              <a:latin typeface="Calibri" panose="020F0502020204030204" pitchFamily="34" charset="0"/>
              <a:cs typeface="Calibri" panose="020F0502020204030204" pitchFamily="34" charset="0"/>
            </a:endParaRPr>
          </a:p>
          <a:p>
            <a:r>
              <a:rPr lang="en-US" sz="1500" dirty="0">
                <a:latin typeface="Calibri" panose="020F0502020204030204" pitchFamily="34" charset="0"/>
                <a:cs typeface="Calibri" panose="020F0502020204030204" pitchFamily="34" charset="0"/>
              </a:rPr>
              <a:t>That's a problem because the pack is limited by its extremes. </a:t>
            </a:r>
          </a:p>
          <a:p>
            <a:pPr marL="285750" indent="-285750">
              <a:buFontTx/>
              <a:buChar char="-"/>
            </a:pPr>
            <a:r>
              <a:rPr lang="en-US" sz="1500" dirty="0">
                <a:latin typeface="Calibri" panose="020F0502020204030204" pitchFamily="34" charset="0"/>
                <a:cs typeface="Calibri" panose="020F0502020204030204" pitchFamily="34" charset="0"/>
              </a:rPr>
              <a:t>On charge, the </a:t>
            </a:r>
            <a:r>
              <a:rPr lang="en-US" sz="1500" b="1" dirty="0">
                <a:latin typeface="Calibri" panose="020F0502020204030204" pitchFamily="34" charset="0"/>
                <a:cs typeface="Calibri" panose="020F0502020204030204" pitchFamily="34" charset="0"/>
              </a:rPr>
              <a:t>fullest</a:t>
            </a:r>
            <a:r>
              <a:rPr lang="en-US" sz="1500" dirty="0">
                <a:latin typeface="Calibri" panose="020F0502020204030204" pitchFamily="34" charset="0"/>
                <a:cs typeface="Calibri" panose="020F0502020204030204" pitchFamily="34" charset="0"/>
              </a:rPr>
              <a:t> cell hits 4.2 V first and the whole pack must stop, the others aren't full yet. </a:t>
            </a:r>
          </a:p>
          <a:p>
            <a:pPr marL="285750" indent="-285750">
              <a:buFontTx/>
              <a:buChar char="-"/>
            </a:pPr>
            <a:r>
              <a:rPr lang="en-US" sz="1500" dirty="0">
                <a:latin typeface="Calibri" panose="020F0502020204030204" pitchFamily="34" charset="0"/>
                <a:cs typeface="Calibri" panose="020F0502020204030204" pitchFamily="34" charset="0"/>
              </a:rPr>
              <a:t>On discharge, the </a:t>
            </a:r>
            <a:r>
              <a:rPr lang="en-US" sz="1500" b="1" dirty="0">
                <a:latin typeface="Calibri" panose="020F0502020204030204" pitchFamily="34" charset="0"/>
                <a:cs typeface="Calibri" panose="020F0502020204030204" pitchFamily="34" charset="0"/>
              </a:rPr>
              <a:t>emptiest</a:t>
            </a:r>
            <a:r>
              <a:rPr lang="en-US" sz="1500" dirty="0">
                <a:latin typeface="Calibri" panose="020F0502020204030204" pitchFamily="34" charset="0"/>
                <a:cs typeface="Calibri" panose="020F0502020204030204" pitchFamily="34" charset="0"/>
              </a:rPr>
              <a:t> cell hits 2.5 V first and the pack must stop, the others still have charge. </a:t>
            </a:r>
          </a:p>
          <a:p>
            <a:r>
              <a:rPr lang="en-US" sz="1500" dirty="0">
                <a:latin typeface="Calibri" panose="020F0502020204030204" pitchFamily="34" charset="0"/>
                <a:cs typeface="Calibri" panose="020F0502020204030204" pitchFamily="34" charset="0"/>
              </a:rPr>
              <a:t>Balancing pulls the cells back together so the pack can use its whole capacity</a:t>
            </a:r>
          </a:p>
          <a:p>
            <a:endParaRPr lang="en-CN" sz="1500" dirty="0">
              <a:latin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6ED92996-1311-C2D2-B5BA-05F4C466732A}"/>
              </a:ext>
            </a:extLst>
          </p:cNvPr>
          <p:cNvSpPr/>
          <p:nvPr/>
        </p:nvSpPr>
        <p:spPr>
          <a:xfrm>
            <a:off x="6718310" y="2486990"/>
            <a:ext cx="1085190" cy="12688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2" name="TextBox 21">
            <a:extLst>
              <a:ext uri="{FF2B5EF4-FFF2-40B4-BE49-F238E27FC236}">
                <a16:creationId xmlns:a16="http://schemas.microsoft.com/office/drawing/2014/main" id="{22C30DAB-F0A6-0DC2-2468-1DB939B26972}"/>
              </a:ext>
            </a:extLst>
          </p:cNvPr>
          <p:cNvSpPr txBox="1"/>
          <p:nvPr/>
        </p:nvSpPr>
        <p:spPr>
          <a:xfrm>
            <a:off x="8031302" y="2059075"/>
            <a:ext cx="4138332" cy="1815882"/>
          </a:xfrm>
          <a:prstGeom prst="rect">
            <a:avLst/>
          </a:prstGeom>
          <a:noFill/>
        </p:spPr>
        <p:txBody>
          <a:bodyPr wrap="square" rtlCol="0">
            <a:spAutoFit/>
          </a:bodyPr>
          <a:lstStyle/>
          <a:p>
            <a:r>
              <a:rPr lang="en-CN" sz="1600" b="1" dirty="0">
                <a:latin typeface="Calibri" panose="020F0502020204030204" pitchFamily="34" charset="0"/>
                <a:cs typeface="Calibri" panose="020F0502020204030204" pitchFamily="34" charset="0"/>
              </a:rPr>
              <a:t>Passive balancing:</a:t>
            </a:r>
          </a:p>
          <a:p>
            <a:pPr marL="285750" indent="-285750">
              <a:buFontTx/>
              <a:buChar char="-"/>
            </a:pPr>
            <a:r>
              <a:rPr lang="en-US" sz="1600" dirty="0">
                <a:latin typeface="Calibri" panose="020F0502020204030204" pitchFamily="34" charset="0"/>
                <a:cs typeface="Calibri" panose="020F0502020204030204" pitchFamily="34" charset="0"/>
              </a:rPr>
              <a:t>C</a:t>
            </a:r>
            <a:r>
              <a:rPr lang="en-CN" sz="1600" dirty="0">
                <a:latin typeface="Calibri" panose="020F0502020204030204" pitchFamily="34" charset="0"/>
                <a:cs typeface="Calibri" panose="020F0502020204030204" pitchFamily="34" charset="0"/>
              </a:rPr>
              <a:t>lose switch: </a:t>
            </a:r>
            <a:r>
              <a:rPr lang="en-US" sz="1600" dirty="0">
                <a:latin typeface="Calibri" panose="020F0502020204030204" pitchFamily="34" charset="0"/>
                <a:cs typeface="Calibri" panose="020F0502020204030204" pitchFamily="34" charset="0"/>
              </a:rPr>
              <a:t>cell drains through resistor</a:t>
            </a:r>
          </a:p>
          <a:p>
            <a:pPr marL="285750" indent="-285750">
              <a:buFontTx/>
              <a:buChar char="-"/>
            </a:pPr>
            <a:r>
              <a:rPr lang="en-US" sz="1600" dirty="0">
                <a:latin typeface="Calibri" panose="020F0502020204030204" pitchFamily="34" charset="0"/>
                <a:cs typeface="Calibri" panose="020F0502020204030204" pitchFamily="34" charset="0"/>
              </a:rPr>
              <a:t>Open switch: comes down to match others</a:t>
            </a:r>
          </a:p>
          <a:p>
            <a:endParaRPr lang="en-CN"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F</a:t>
            </a:r>
            <a:r>
              <a:rPr lang="en-CN" sz="1600" dirty="0">
                <a:latin typeface="Calibri" panose="020F0502020204030204" pitchFamily="34" charset="0"/>
                <a:cs typeface="Calibri" panose="020F0502020204030204" pitchFamily="34" charset="0"/>
              </a:rPr>
              <a:t>irmware decides which switch to close based on voltage data from frontend:</a:t>
            </a:r>
          </a:p>
          <a:p>
            <a:r>
              <a:rPr lang="en-US" sz="1600" dirty="0">
                <a:latin typeface="Calibri" panose="020F0502020204030204" pitchFamily="34" charset="0"/>
                <a:cs typeface="Calibri" panose="020F0502020204030204" pitchFamily="34" charset="0"/>
              </a:rPr>
              <a:t>b</a:t>
            </a:r>
            <a:r>
              <a:rPr lang="en-CN" sz="1600" dirty="0">
                <a:latin typeface="Calibri" panose="020F0502020204030204" pitchFamily="34" charset="0"/>
                <a:cs typeface="Calibri" panose="020F0502020204030204" pitchFamily="34" charset="0"/>
              </a:rPr>
              <a:t>leed highest, stop when they match w lowest</a:t>
            </a:r>
          </a:p>
        </p:txBody>
      </p:sp>
      <p:sp>
        <p:nvSpPr>
          <p:cNvPr id="24" name="TextBox 23">
            <a:extLst>
              <a:ext uri="{FF2B5EF4-FFF2-40B4-BE49-F238E27FC236}">
                <a16:creationId xmlns:a16="http://schemas.microsoft.com/office/drawing/2014/main" id="{832CDD0F-A71B-BAA5-E885-93A8C1D83350}"/>
              </a:ext>
            </a:extLst>
          </p:cNvPr>
          <p:cNvSpPr txBox="1"/>
          <p:nvPr/>
        </p:nvSpPr>
        <p:spPr>
          <a:xfrm>
            <a:off x="1689315" y="4589063"/>
            <a:ext cx="5317765"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Cell 6's switch has its source at 18.5 V. If the MCU drives that </a:t>
            </a:r>
          </a:p>
          <a:p>
            <a:r>
              <a:rPr lang="en-US" sz="1600" dirty="0">
                <a:latin typeface="Calibri" panose="020F0502020204030204" pitchFamily="34" charset="0"/>
                <a:cs typeface="Calibri" panose="020F0502020204030204" pitchFamily="34" charset="0"/>
              </a:rPr>
              <a:t>gate with a 3.3 V signal referenced to ground, the gate is 15 V </a:t>
            </a:r>
          </a:p>
          <a:p>
            <a:r>
              <a:rPr lang="en-US" sz="1600" i="1" dirty="0">
                <a:latin typeface="Calibri" panose="020F0502020204030204" pitchFamily="34" charset="0"/>
                <a:cs typeface="Calibri" panose="020F0502020204030204" pitchFamily="34" charset="0"/>
              </a:rPr>
              <a:t>below</a:t>
            </a:r>
            <a:r>
              <a:rPr lang="en-US" sz="1600" dirty="0">
                <a:latin typeface="Calibri" panose="020F0502020204030204" pitchFamily="34" charset="0"/>
                <a:cs typeface="Calibri" panose="020F0502020204030204" pitchFamily="34" charset="0"/>
              </a:rPr>
              <a:t> the source. The transistor doesn't turn on. </a:t>
            </a:r>
            <a:endParaRPr lang="en-CN" sz="1600" dirty="0">
              <a:latin typeface="Calibri" panose="020F0502020204030204" pitchFamily="34" charset="0"/>
              <a:cs typeface="Calibri" panose="020F0502020204030204" pitchFamily="34" charset="0"/>
            </a:endParaRPr>
          </a:p>
        </p:txBody>
      </p:sp>
      <p:sp>
        <p:nvSpPr>
          <p:cNvPr id="25" name="Right Arrow 24">
            <a:extLst>
              <a:ext uri="{FF2B5EF4-FFF2-40B4-BE49-F238E27FC236}">
                <a16:creationId xmlns:a16="http://schemas.microsoft.com/office/drawing/2014/main" id="{3334C9B7-F1E1-A2F1-CB33-72EDA48B0431}"/>
              </a:ext>
            </a:extLst>
          </p:cNvPr>
          <p:cNvSpPr/>
          <p:nvPr/>
        </p:nvSpPr>
        <p:spPr>
          <a:xfrm>
            <a:off x="7155708" y="4772912"/>
            <a:ext cx="542925" cy="2714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6" name="TextBox 25">
            <a:extLst>
              <a:ext uri="{FF2B5EF4-FFF2-40B4-BE49-F238E27FC236}">
                <a16:creationId xmlns:a16="http://schemas.microsoft.com/office/drawing/2014/main" id="{46C66E1B-5ED4-29DB-021F-7A781389B56A}"/>
              </a:ext>
            </a:extLst>
          </p:cNvPr>
          <p:cNvSpPr txBox="1"/>
          <p:nvPr/>
        </p:nvSpPr>
        <p:spPr>
          <a:xfrm>
            <a:off x="8058755" y="4057233"/>
            <a:ext cx="4083426" cy="2800767"/>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Optocoupler</a:t>
            </a:r>
            <a:r>
              <a:rPr lang="en-US" sz="1600" dirty="0">
                <a:latin typeface="Calibri" panose="020F0502020204030204" pitchFamily="34" charset="0"/>
                <a:cs typeface="Calibri" panose="020F0502020204030204" pitchFamily="34" charset="0"/>
              </a:rPr>
              <a:t>: MCU lights the LED  </a:t>
            </a:r>
          </a:p>
          <a:p>
            <a:r>
              <a:rPr lang="en-US" sz="1600" dirty="0">
                <a:latin typeface="Calibri" panose="020F0502020204030204" pitchFamily="34" charset="0"/>
                <a:cs typeface="Calibri" panose="020F0502020204030204" pitchFamily="34" charset="0"/>
              </a:rPr>
              <a:t>The light turns on the phototransistor, which is wired between the cell's positive terminal and the FET’s gate, so it pulls the gate up relative to the source regardless of where that cell sits </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Bonus: </a:t>
            </a:r>
          </a:p>
          <a:p>
            <a:r>
              <a:rPr lang="en-US" sz="1600" dirty="0">
                <a:latin typeface="Calibri" panose="020F0502020204030204" pitchFamily="34" charset="0"/>
                <a:cs typeface="Calibri" panose="020F0502020204030204" pitchFamily="34" charset="0"/>
              </a:rPr>
              <a:t>this is galvanic isolation for free, which is what the rules want between the tractive side and the logic side anyway.</a:t>
            </a:r>
          </a:p>
          <a:p>
            <a:endParaRPr lang="en-CN" sz="16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D8A3E3CE-0A79-6DE9-10A2-326BD40F7563}"/>
              </a:ext>
            </a:extLst>
          </p:cNvPr>
          <p:cNvSpPr/>
          <p:nvPr/>
        </p:nvSpPr>
        <p:spPr>
          <a:xfrm>
            <a:off x="3438304" y="216551"/>
            <a:ext cx="8278741" cy="1726549"/>
          </a:xfrm>
          <a:prstGeom prst="rect">
            <a:avLst/>
          </a:prstGeom>
          <a:solidFill>
            <a:schemeClr val="accent1">
              <a:alpha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591047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F99ED-28DB-63DB-C24F-C562B0A016B0}"/>
              </a:ext>
            </a:extLst>
          </p:cNvPr>
          <p:cNvSpPr>
            <a:spLocks noGrp="1"/>
          </p:cNvSpPr>
          <p:nvPr>
            <p:ph type="title"/>
          </p:nvPr>
        </p:nvSpPr>
        <p:spPr>
          <a:xfrm>
            <a:off x="838200" y="-72232"/>
            <a:ext cx="10515600" cy="1325563"/>
          </a:xfrm>
        </p:spPr>
        <p:txBody>
          <a:bodyPr>
            <a:normAutofit/>
          </a:bodyPr>
          <a:lstStyle/>
          <a:p>
            <a:r>
              <a:rPr lang="en-CN" sz="3000" dirty="0">
                <a:latin typeface="Calibri" panose="020F0502020204030204" pitchFamily="34" charset="0"/>
                <a:cs typeface="Calibri" panose="020F0502020204030204" pitchFamily="34" charset="0"/>
              </a:rPr>
              <a:t>MCU pinout</a:t>
            </a:r>
          </a:p>
        </p:txBody>
      </p:sp>
      <p:pic>
        <p:nvPicPr>
          <p:cNvPr id="5" name="Content Placeholder 4" descr="A diagram of a circuit board&#10;&#10;AI-generated content may be incorrect.">
            <a:extLst>
              <a:ext uri="{FF2B5EF4-FFF2-40B4-BE49-F238E27FC236}">
                <a16:creationId xmlns:a16="http://schemas.microsoft.com/office/drawing/2014/main" id="{DF5393B8-DBEB-4AB2-461B-9BD2B782B1CF}"/>
              </a:ext>
            </a:extLst>
          </p:cNvPr>
          <p:cNvPicPr>
            <a:picLocks noGrp="1" noChangeAspect="1"/>
          </p:cNvPicPr>
          <p:nvPr>
            <p:ph idx="1"/>
          </p:nvPr>
        </p:nvPicPr>
        <p:blipFill>
          <a:blip r:embed="rId3"/>
          <a:stretch>
            <a:fillRect/>
          </a:stretch>
        </p:blipFill>
        <p:spPr>
          <a:xfrm>
            <a:off x="838200" y="877411"/>
            <a:ext cx="4323080" cy="5636206"/>
          </a:xfrm>
        </p:spPr>
      </p:pic>
      <p:sp>
        <p:nvSpPr>
          <p:cNvPr id="6" name="TextBox 5">
            <a:extLst>
              <a:ext uri="{FF2B5EF4-FFF2-40B4-BE49-F238E27FC236}">
                <a16:creationId xmlns:a16="http://schemas.microsoft.com/office/drawing/2014/main" id="{6EB362DB-AA3D-821B-D44D-909A81225F2D}"/>
              </a:ext>
            </a:extLst>
          </p:cNvPr>
          <p:cNvSpPr txBox="1"/>
          <p:nvPr/>
        </p:nvSpPr>
        <p:spPr>
          <a:xfrm>
            <a:off x="5567430" y="877411"/>
            <a:ext cx="6077723" cy="3693319"/>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STM32F446RE</a:t>
            </a:r>
          </a:p>
          <a:p>
            <a:endParaRPr lang="en-US" b="1"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    ADC: </a:t>
            </a:r>
            <a:r>
              <a:rPr lang="en-US" dirty="0">
                <a:latin typeface="Calibri" panose="020F0502020204030204" pitchFamily="34" charset="0"/>
                <a:cs typeface="Calibri" panose="020F0502020204030204" pitchFamily="34" charset="0"/>
              </a:rPr>
              <a:t>PA0</a:t>
            </a:r>
            <a:r>
              <a:rPr lang="en-US" b="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VCELL, PA1–6 TEMP, PA7 VREF_MON, PC0–5 spare</a:t>
            </a:r>
          </a:p>
          <a:p>
            <a:r>
              <a:rPr lang="en-US" dirty="0">
                <a:latin typeface="Calibri" panose="020F0502020204030204" pitchFamily="34" charset="0"/>
                <a:cs typeface="Calibri" panose="020F0502020204030204" pitchFamily="34" charset="0"/>
              </a:rPr>
              <a:t>     (14S)</a:t>
            </a:r>
          </a:p>
          <a:p>
            <a:pPr marL="285750" indent="-285750">
              <a:buFontTx/>
              <a:buChar char="-"/>
            </a:pPr>
            <a:r>
              <a:rPr lang="en-US" b="1" dirty="0">
                <a:latin typeface="Calibri" panose="020F0502020204030204" pitchFamily="34" charset="0"/>
                <a:cs typeface="Calibri" panose="020F0502020204030204" pitchFamily="34" charset="0"/>
              </a:rPr>
              <a:t>GPIO out</a:t>
            </a:r>
            <a:r>
              <a:rPr lang="en-US" dirty="0">
                <a:latin typeface="Calibri" panose="020F0502020204030204" pitchFamily="34" charset="0"/>
                <a:cs typeface="Calibri" panose="020F0502020204030204" pitchFamily="34" charset="0"/>
              </a:rPr>
              <a:t>: PC6–9 mux, PB4–7,12,13 BAL_EN, PC10 WDT_KICK</a:t>
            </a:r>
          </a:p>
          <a:p>
            <a:pPr marL="285750" indent="-285750">
              <a:buFontTx/>
              <a:buChar char="-"/>
            </a:pPr>
            <a:r>
              <a:rPr lang="en-US" b="1" dirty="0">
                <a:latin typeface="Calibri" panose="020F0502020204030204" pitchFamily="34" charset="0"/>
                <a:cs typeface="Calibri" panose="020F0502020204030204" pitchFamily="34" charset="0"/>
              </a:rPr>
              <a:t>GPIO</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in</a:t>
            </a:r>
            <a:r>
              <a:rPr lang="en-US" dirty="0">
                <a:latin typeface="Calibri" panose="020F0502020204030204" pitchFamily="34" charset="0"/>
                <a:cs typeface="Calibri" panose="020F0502020204030204" pitchFamily="34" charset="0"/>
              </a:rPr>
              <a:t> PA8 FAULT_N</a:t>
            </a:r>
          </a:p>
          <a:p>
            <a:pPr marL="285750" indent="-285750">
              <a:buFontTx/>
              <a:buChar char="-"/>
            </a:pPr>
            <a:r>
              <a:rPr lang="en-US" b="1" dirty="0">
                <a:latin typeface="Calibri" panose="020F0502020204030204" pitchFamily="34" charset="0"/>
                <a:cs typeface="Calibri" panose="020F0502020204030204" pitchFamily="34" charset="0"/>
              </a:rPr>
              <a:t>CAN1</a:t>
            </a:r>
            <a:r>
              <a:rPr lang="en-US" dirty="0">
                <a:latin typeface="Calibri" panose="020F0502020204030204" pitchFamily="34" charset="0"/>
                <a:cs typeface="Calibri" panose="020F0502020204030204" pitchFamily="34" charset="0"/>
              </a:rPr>
              <a:t>: PB8 RX, PB9 TX</a:t>
            </a:r>
          </a:p>
          <a:p>
            <a:pPr marL="285750" indent="-285750">
              <a:buFontTx/>
              <a:buChar char="-"/>
            </a:pPr>
            <a:r>
              <a:rPr lang="en-US" b="1" dirty="0">
                <a:latin typeface="Calibri" panose="020F0502020204030204" pitchFamily="34" charset="0"/>
                <a:cs typeface="Calibri" panose="020F0502020204030204" pitchFamily="34" charset="0"/>
              </a:rPr>
              <a:t>SWD</a:t>
            </a:r>
            <a:r>
              <a:rPr lang="en-US" dirty="0">
                <a:latin typeface="Calibri" panose="020F0502020204030204" pitchFamily="34" charset="0"/>
                <a:cs typeface="Calibri" panose="020F0502020204030204" pitchFamily="34" charset="0"/>
              </a:rPr>
              <a:t>: PA13/PA14/PB3</a:t>
            </a:r>
          </a:p>
          <a:p>
            <a:pPr marL="285750" indent="-285750">
              <a:buFontTx/>
              <a:buChar char="-"/>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 ADC ref = VDDA, corrected from the 2.500 V on PA7</a:t>
            </a:r>
          </a:p>
          <a:p>
            <a:r>
              <a:rPr lang="en-US" dirty="0">
                <a:latin typeface="Calibri" panose="020F0502020204030204" pitchFamily="34" charset="0"/>
                <a:cs typeface="Calibri" panose="020F0502020204030204" pitchFamily="34" charset="0"/>
              </a:rPr>
              <a:t>→ WDT_KICK is a GPIO in the main loop</a:t>
            </a:r>
          </a:p>
          <a:p>
            <a:r>
              <a:rPr lang="en-US" dirty="0">
                <a:latin typeface="Calibri" panose="020F0502020204030204" pitchFamily="34" charset="0"/>
                <a:cs typeface="Calibri" panose="020F0502020204030204" pitchFamily="34" charset="0"/>
              </a:rPr>
              <a:t>→ 14S: 16 of 16 ADC channels</a:t>
            </a:r>
            <a:endParaRPr lang="en-CN" dirty="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DB237B04-0BD9-54C0-2138-E2574A6E070B}"/>
              </a:ext>
            </a:extLst>
          </p:cNvPr>
          <p:cNvSpPr/>
          <p:nvPr/>
        </p:nvSpPr>
        <p:spPr>
          <a:xfrm>
            <a:off x="3389152" y="2768367"/>
            <a:ext cx="687898" cy="9271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DB0AF847-DBE1-83C1-B646-984460B6987E}"/>
              </a:ext>
            </a:extLst>
          </p:cNvPr>
          <p:cNvSpPr txBox="1"/>
          <p:nvPr/>
        </p:nvSpPr>
        <p:spPr>
          <a:xfrm>
            <a:off x="3344411" y="2523883"/>
            <a:ext cx="2257285" cy="276999"/>
          </a:xfrm>
          <a:prstGeom prst="rect">
            <a:avLst/>
          </a:prstGeom>
          <a:noFill/>
        </p:spPr>
        <p:txBody>
          <a:bodyPr wrap="none" rtlCol="0">
            <a:spAutoFit/>
          </a:bodyPr>
          <a:lstStyle/>
          <a:p>
            <a:r>
              <a:rPr lang="en-CN" sz="1200" dirty="0">
                <a:highlight>
                  <a:srgbClr val="C0C0C0"/>
                </a:highlight>
                <a:latin typeface="Calibri" panose="020F0502020204030204" pitchFamily="34" charset="0"/>
                <a:cs typeface="Calibri" panose="020F0502020204030204" pitchFamily="34" charset="0"/>
              </a:rPr>
              <a:t>ADC (VCELL, TEMPk, </a:t>
            </a:r>
            <a:r>
              <a:rPr lang="en-US" sz="1200" dirty="0">
                <a:highlight>
                  <a:srgbClr val="C0C0C0"/>
                </a:highlight>
                <a:latin typeface="Calibri" panose="020F0502020204030204" pitchFamily="34" charset="0"/>
                <a:cs typeface="Calibri" panose="020F0502020204030204" pitchFamily="34" charset="0"/>
              </a:rPr>
              <a:t>VREF_MON</a:t>
            </a:r>
            <a:r>
              <a:rPr lang="en-CN" sz="1200" dirty="0">
                <a:highlight>
                  <a:srgbClr val="C0C0C0"/>
                </a:highlight>
                <a:latin typeface="Calibri" panose="020F0502020204030204" pitchFamily="34" charset="0"/>
                <a:cs typeface="Calibri" panose="020F0502020204030204" pitchFamily="34" charset="0"/>
              </a:rPr>
              <a:t>)</a:t>
            </a:r>
          </a:p>
        </p:txBody>
      </p:sp>
      <p:sp>
        <p:nvSpPr>
          <p:cNvPr id="9" name="Rectangle 8">
            <a:extLst>
              <a:ext uri="{FF2B5EF4-FFF2-40B4-BE49-F238E27FC236}">
                <a16:creationId xmlns:a16="http://schemas.microsoft.com/office/drawing/2014/main" id="{8E2F4764-1989-3A71-96A0-5355481DB43B}"/>
              </a:ext>
            </a:extLst>
          </p:cNvPr>
          <p:cNvSpPr/>
          <p:nvPr/>
        </p:nvSpPr>
        <p:spPr>
          <a:xfrm>
            <a:off x="1862772" y="3334765"/>
            <a:ext cx="687898" cy="9271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Rectangle 9">
            <a:extLst>
              <a:ext uri="{FF2B5EF4-FFF2-40B4-BE49-F238E27FC236}">
                <a16:creationId xmlns:a16="http://schemas.microsoft.com/office/drawing/2014/main" id="{2C4A3C78-E1A3-00E8-1ABF-CC59A48B33D9}"/>
              </a:ext>
            </a:extLst>
          </p:cNvPr>
          <p:cNvSpPr/>
          <p:nvPr/>
        </p:nvSpPr>
        <p:spPr>
          <a:xfrm>
            <a:off x="1862772" y="4261912"/>
            <a:ext cx="687898" cy="4756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09E30F2B-DE5D-D40A-0189-A8E1725911B3}"/>
              </a:ext>
            </a:extLst>
          </p:cNvPr>
          <p:cNvSpPr/>
          <p:nvPr/>
        </p:nvSpPr>
        <p:spPr>
          <a:xfrm>
            <a:off x="3344410" y="4791275"/>
            <a:ext cx="802789" cy="4215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ectangle 11">
            <a:extLst>
              <a:ext uri="{FF2B5EF4-FFF2-40B4-BE49-F238E27FC236}">
                <a16:creationId xmlns:a16="http://schemas.microsoft.com/office/drawing/2014/main" id="{DF00CEE1-1F6C-D3EA-28D3-5D980D0D849B}"/>
              </a:ext>
            </a:extLst>
          </p:cNvPr>
          <p:cNvSpPr/>
          <p:nvPr/>
        </p:nvSpPr>
        <p:spPr>
          <a:xfrm>
            <a:off x="3344410" y="5475144"/>
            <a:ext cx="802789" cy="2107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TextBox 13">
            <a:extLst>
              <a:ext uri="{FF2B5EF4-FFF2-40B4-BE49-F238E27FC236}">
                <a16:creationId xmlns:a16="http://schemas.microsoft.com/office/drawing/2014/main" id="{DA302F9A-1DF1-BE59-397E-90203E9CA8CA}"/>
              </a:ext>
            </a:extLst>
          </p:cNvPr>
          <p:cNvSpPr txBox="1"/>
          <p:nvPr/>
        </p:nvSpPr>
        <p:spPr>
          <a:xfrm>
            <a:off x="2497686" y="4361256"/>
            <a:ext cx="752129" cy="276999"/>
          </a:xfrm>
          <a:prstGeom prst="rect">
            <a:avLst/>
          </a:prstGeom>
          <a:noFill/>
        </p:spPr>
        <p:txBody>
          <a:bodyPr wrap="none" rtlCol="0">
            <a:spAutoFit/>
          </a:bodyPr>
          <a:lstStyle/>
          <a:p>
            <a:r>
              <a:rPr lang="en-US" sz="1200" dirty="0">
                <a:highlight>
                  <a:srgbClr val="FF00FF"/>
                </a:highlight>
                <a:latin typeface="Calibri" panose="020F0502020204030204" pitchFamily="34" charset="0"/>
                <a:cs typeface="Calibri" panose="020F0502020204030204" pitchFamily="34" charset="0"/>
              </a:rPr>
              <a:t>GPIO out</a:t>
            </a:r>
            <a:endParaRPr lang="en-CN" sz="1200" dirty="0">
              <a:highlight>
                <a:srgbClr val="FF00FF"/>
              </a:highligh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278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96389-F463-5852-20D5-44AAE05570CE}"/>
              </a:ext>
            </a:extLst>
          </p:cNvPr>
          <p:cNvSpPr>
            <a:spLocks noGrp="1"/>
          </p:cNvSpPr>
          <p:nvPr>
            <p:ph type="title"/>
          </p:nvPr>
        </p:nvSpPr>
        <p:spPr/>
        <p:txBody>
          <a:bodyPr/>
          <a:lstStyle/>
          <a:p>
            <a:r>
              <a:rPr lang="en-CN" sz="3000" dirty="0">
                <a:latin typeface="Calibri" panose="020F0502020204030204" pitchFamily="34" charset="0"/>
                <a:cs typeface="Calibri" panose="020F0502020204030204" pitchFamily="34" charset="0"/>
              </a:rPr>
              <a:t>Power</a:t>
            </a:r>
            <a:r>
              <a:rPr lang="en-CN" dirty="0"/>
              <a:t> </a:t>
            </a:r>
          </a:p>
        </p:txBody>
      </p:sp>
      <p:pic>
        <p:nvPicPr>
          <p:cNvPr id="5" name="Content Placeholder 4" descr="A diagram of a circuit&#10;&#10;AI-generated content may be incorrect.">
            <a:extLst>
              <a:ext uri="{FF2B5EF4-FFF2-40B4-BE49-F238E27FC236}">
                <a16:creationId xmlns:a16="http://schemas.microsoft.com/office/drawing/2014/main" id="{5F830EE8-A0D0-336E-699F-E144ED5925BA}"/>
              </a:ext>
            </a:extLst>
          </p:cNvPr>
          <p:cNvPicPr>
            <a:picLocks noGrp="1" noChangeAspect="1"/>
          </p:cNvPicPr>
          <p:nvPr>
            <p:ph idx="1"/>
          </p:nvPr>
        </p:nvPicPr>
        <p:blipFill>
          <a:blip r:embed="rId3"/>
          <a:stretch>
            <a:fillRect/>
          </a:stretch>
        </p:blipFill>
        <p:spPr>
          <a:xfrm>
            <a:off x="838200" y="1433363"/>
            <a:ext cx="9703279" cy="4780292"/>
          </a:xfrm>
        </p:spPr>
      </p:pic>
      <p:sp>
        <p:nvSpPr>
          <p:cNvPr id="6" name="TextBox 5">
            <a:extLst>
              <a:ext uri="{FF2B5EF4-FFF2-40B4-BE49-F238E27FC236}">
                <a16:creationId xmlns:a16="http://schemas.microsoft.com/office/drawing/2014/main" id="{8E874006-B0D3-B3DA-876D-117C0DEE3CFF}"/>
              </a:ext>
            </a:extLst>
          </p:cNvPr>
          <p:cNvSpPr txBox="1"/>
          <p:nvPr/>
        </p:nvSpPr>
        <p:spPr>
          <a:xfrm>
            <a:off x="6096000" y="1399887"/>
            <a:ext cx="627095" cy="369332"/>
          </a:xfrm>
          <a:prstGeom prst="rect">
            <a:avLst/>
          </a:prstGeom>
          <a:noFill/>
        </p:spPr>
        <p:txBody>
          <a:bodyPr wrap="none" rtlCol="0">
            <a:spAutoFit/>
          </a:bodyPr>
          <a:lstStyle/>
          <a:p>
            <a:r>
              <a:rPr lang="en-CN" dirty="0"/>
              <a:t>LDO</a:t>
            </a:r>
          </a:p>
        </p:txBody>
      </p:sp>
      <p:sp>
        <p:nvSpPr>
          <p:cNvPr id="7" name="TextBox 6">
            <a:extLst>
              <a:ext uri="{FF2B5EF4-FFF2-40B4-BE49-F238E27FC236}">
                <a16:creationId xmlns:a16="http://schemas.microsoft.com/office/drawing/2014/main" id="{10C36B3D-6E47-E74F-B578-AC621831EC4C}"/>
              </a:ext>
            </a:extLst>
          </p:cNvPr>
          <p:cNvSpPr txBox="1"/>
          <p:nvPr/>
        </p:nvSpPr>
        <p:spPr>
          <a:xfrm>
            <a:off x="4895886" y="5936656"/>
            <a:ext cx="5808193" cy="738664"/>
          </a:xfrm>
          <a:prstGeom prst="rect">
            <a:avLst/>
          </a:prstGeom>
          <a:noFill/>
        </p:spPr>
        <p:txBody>
          <a:bodyPr wrap="none" rtlCol="0">
            <a:spAutoFit/>
          </a:bodyPr>
          <a:lstStyle/>
          <a:p>
            <a:r>
              <a:rPr lang="en-CN" sz="1400" dirty="0">
                <a:latin typeface="Calibri" panose="020F0502020204030204" pitchFamily="34" charset="0"/>
                <a:cs typeface="Calibri" panose="020F0502020204030204" pitchFamily="34" charset="0"/>
              </a:rPr>
              <a:t>Boost (inductors + diodes)</a:t>
            </a:r>
          </a:p>
          <a:p>
            <a:r>
              <a:rPr lang="en-US" sz="1400" dirty="0">
                <a:latin typeface="Calibri" panose="020F0502020204030204" pitchFamily="34" charset="0"/>
                <a:cs typeface="Calibri" panose="020F0502020204030204" pitchFamily="34" charset="0"/>
              </a:rPr>
              <a:t>mux can't pass a signal above its own supply, and the stack can't supply itself.</a:t>
            </a:r>
          </a:p>
          <a:p>
            <a:r>
              <a:rPr lang="en-US" sz="1400" dirty="0">
                <a:latin typeface="Calibri" panose="020F0502020204030204" pitchFamily="34" charset="0"/>
                <a:cs typeface="Calibri" panose="020F0502020204030204" pitchFamily="34" charset="0"/>
              </a:rPr>
              <a:t>Not needed for diff-amp version</a:t>
            </a:r>
            <a:endParaRPr lang="en-CN" sz="14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079B29D-26A8-B80A-CC14-DEF376D7EF9F}"/>
              </a:ext>
            </a:extLst>
          </p:cNvPr>
          <p:cNvSpPr txBox="1"/>
          <p:nvPr/>
        </p:nvSpPr>
        <p:spPr>
          <a:xfrm>
            <a:off x="2380497" y="6028989"/>
            <a:ext cx="686406" cy="369332"/>
          </a:xfrm>
          <a:prstGeom prst="rect">
            <a:avLst/>
          </a:prstGeom>
          <a:noFill/>
        </p:spPr>
        <p:txBody>
          <a:bodyPr wrap="none" rtlCol="0">
            <a:spAutoFit/>
          </a:bodyPr>
          <a:lstStyle/>
          <a:p>
            <a:r>
              <a:rPr lang="en-CN" dirty="0"/>
              <a:t>Buck</a:t>
            </a:r>
          </a:p>
        </p:txBody>
      </p:sp>
      <p:sp>
        <p:nvSpPr>
          <p:cNvPr id="9" name="TextBox 8">
            <a:extLst>
              <a:ext uri="{FF2B5EF4-FFF2-40B4-BE49-F238E27FC236}">
                <a16:creationId xmlns:a16="http://schemas.microsoft.com/office/drawing/2014/main" id="{CE97D4DC-4171-2BF3-F206-A60F6B60727F}"/>
              </a:ext>
            </a:extLst>
          </p:cNvPr>
          <p:cNvSpPr txBox="1"/>
          <p:nvPr/>
        </p:nvSpPr>
        <p:spPr>
          <a:xfrm>
            <a:off x="8489576" y="4599918"/>
            <a:ext cx="2736647" cy="600164"/>
          </a:xfrm>
          <a:prstGeom prst="rect">
            <a:avLst/>
          </a:prstGeom>
          <a:noFill/>
        </p:spPr>
        <p:txBody>
          <a:bodyPr wrap="none" rtlCol="0">
            <a:spAutoFit/>
          </a:bodyPr>
          <a:lstStyle/>
          <a:p>
            <a:r>
              <a:rPr lang="en-US" sz="1100" dirty="0">
                <a:latin typeface="Calibri" panose="020F0502020204030204" pitchFamily="34" charset="0"/>
                <a:cs typeface="Calibri" panose="020F0502020204030204" pitchFamily="34" charset="0"/>
              </a:rPr>
              <a:t>S</a:t>
            </a:r>
            <a:r>
              <a:rPr lang="en-CN" sz="1100" dirty="0">
                <a:latin typeface="Calibri" panose="020F0502020204030204" pitchFamily="34" charset="0"/>
                <a:cs typeface="Calibri" panose="020F0502020204030204" pitchFamily="34" charset="0"/>
              </a:rPr>
              <a:t>ame voltage, separate copper</a:t>
            </a:r>
          </a:p>
          <a:p>
            <a:r>
              <a:rPr lang="en-US" sz="1100" dirty="0">
                <a:latin typeface="Calibri" panose="020F0502020204030204" pitchFamily="34" charset="0"/>
                <a:cs typeface="Calibri" panose="020F0502020204030204" pitchFamily="34" charset="0"/>
              </a:rPr>
              <a:t>N</a:t>
            </a:r>
            <a:r>
              <a:rPr lang="en-CN" sz="1100" dirty="0">
                <a:latin typeface="Calibri" panose="020F0502020204030204" pitchFamily="34" charset="0"/>
                <a:cs typeface="Calibri" panose="020F0502020204030204" pitchFamily="34" charset="0"/>
              </a:rPr>
              <a:t>oisy current return on GND</a:t>
            </a:r>
          </a:p>
          <a:p>
            <a:r>
              <a:rPr lang="en-US" sz="1100" dirty="0">
                <a:latin typeface="Calibri" panose="020F0502020204030204" pitchFamily="34" charset="0"/>
                <a:cs typeface="Calibri" panose="020F0502020204030204" pitchFamily="34" charset="0"/>
              </a:rPr>
              <a:t>M</a:t>
            </a:r>
            <a:r>
              <a:rPr lang="en-CN" sz="1100" dirty="0">
                <a:latin typeface="Calibri" panose="020F0502020204030204" pitchFamily="34" charset="0"/>
                <a:cs typeface="Calibri" panose="020F0502020204030204" pitchFamily="34" charset="0"/>
              </a:rPr>
              <a:t>easurement current return on analog GND</a:t>
            </a:r>
          </a:p>
        </p:txBody>
      </p:sp>
      <p:sp>
        <p:nvSpPr>
          <p:cNvPr id="10" name="TextBox 9">
            <a:extLst>
              <a:ext uri="{FF2B5EF4-FFF2-40B4-BE49-F238E27FC236}">
                <a16:creationId xmlns:a16="http://schemas.microsoft.com/office/drawing/2014/main" id="{EBDC2440-57D2-6081-8749-61FFF9721136}"/>
              </a:ext>
            </a:extLst>
          </p:cNvPr>
          <p:cNvSpPr txBox="1"/>
          <p:nvPr/>
        </p:nvSpPr>
        <p:spPr>
          <a:xfrm>
            <a:off x="2380497" y="152348"/>
            <a:ext cx="6407331" cy="1323439"/>
          </a:xfrm>
          <a:prstGeom prst="rect">
            <a:avLst/>
          </a:prstGeom>
          <a:noFill/>
        </p:spPr>
        <p:txBody>
          <a:bodyPr wrap="none" rtlCol="0">
            <a:spAutoFit/>
          </a:bodyPr>
          <a:lstStyle/>
          <a:p>
            <a:r>
              <a:rPr lang="en-CN" sz="1600" b="1" dirty="0">
                <a:latin typeface="Calibri" panose="020F0502020204030204" pitchFamily="34" charset="0"/>
                <a:cs typeface="Calibri" panose="020F0502020204030204" pitchFamily="34" charset="0"/>
              </a:rPr>
              <a:t>Battery pack only powers motors and invertors.</a:t>
            </a:r>
          </a:p>
          <a:p>
            <a:r>
              <a:rPr lang="en-CN" sz="1600" b="1" dirty="0">
                <a:latin typeface="Calibri" panose="020F0502020204030204" pitchFamily="34" charset="0"/>
                <a:cs typeface="Calibri" panose="020F0502020204030204" pitchFamily="34" charset="0"/>
              </a:rPr>
              <a:t>Everything on BMS is powered from 12V LV system.</a:t>
            </a:r>
          </a:p>
          <a:p>
            <a:pPr marL="285750" indent="-285750">
              <a:buFont typeface="Wingdings" pitchFamily="2" charset="2"/>
              <a:buChar char="è"/>
            </a:pPr>
            <a:r>
              <a:rPr lang="en-US" sz="1600" dirty="0">
                <a:latin typeface="Calibri" panose="020F0502020204030204" pitchFamily="34" charset="0"/>
                <a:cs typeface="Calibri" panose="020F0502020204030204" pitchFamily="34" charset="0"/>
              </a:rPr>
              <a:t>PTC fuse + P-FET reverse-polarity blocker for input protection</a:t>
            </a:r>
          </a:p>
          <a:p>
            <a:pPr marL="285750" indent="-285750">
              <a:buFont typeface="Wingdings" pitchFamily="2" charset="2"/>
              <a:buChar char="è"/>
            </a:pPr>
            <a:r>
              <a:rPr lang="en-US" sz="1600" dirty="0">
                <a:latin typeface="Calibri" panose="020F0502020204030204" pitchFamily="34" charset="0"/>
                <a:cs typeface="Calibri" panose="020F0502020204030204" pitchFamily="34" charset="0"/>
              </a:rPr>
              <a:t>Two stage to 3.3V (Buck + LDO) for efficiency  + tripping switching noise</a:t>
            </a:r>
          </a:p>
          <a:p>
            <a:pPr marL="285750" indent="-285750">
              <a:buFont typeface="Wingdings" pitchFamily="2" charset="2"/>
              <a:buChar char="è"/>
            </a:pPr>
            <a:r>
              <a:rPr lang="en-US" sz="1600" dirty="0">
                <a:latin typeface="Calibri" panose="020F0502020204030204" pitchFamily="34" charset="0"/>
                <a:cs typeface="Calibri" panose="020F0502020204030204" pitchFamily="34" charset="0"/>
              </a:rPr>
              <a:t>FB1 for analog parts</a:t>
            </a:r>
            <a:endParaRPr lang="en-CN"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71971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ccumulator EE" id="{C49DFD7E-CB37-4B4F-8286-1D3D99C2730F}" vid="{E8CAA566-9242-BC4C-BA9B-103990D3E1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2043</Words>
  <Application>Microsoft Macintosh PowerPoint</Application>
  <PresentationFormat>Widescreen</PresentationFormat>
  <Paragraphs>260</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Wingdings</vt:lpstr>
      <vt:lpstr>Office Theme</vt:lpstr>
      <vt:lpstr>Accumulator EE</vt:lpstr>
      <vt:lpstr>System Architecture </vt:lpstr>
      <vt:lpstr>Block Diagram</vt:lpstr>
      <vt:lpstr>Cell Voltage – Initial solution</vt:lpstr>
      <vt:lpstr>Cell Voltage – optimized version …</vt:lpstr>
      <vt:lpstr>Temperature Sensing</vt:lpstr>
      <vt:lpstr>Temperature Sensing</vt:lpstr>
      <vt:lpstr>CAN transciever + termination (DNP)</vt:lpstr>
      <vt:lpstr>BMS interface (other than CAN)</vt:lpstr>
      <vt:lpstr>How system monitors unsafe conditions  BMS fault</vt:lpstr>
      <vt:lpstr>Cell Balancing</vt:lpstr>
      <vt:lpstr>MCU pinout</vt:lpstr>
      <vt:lpstr>Power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Katherine Chen</dc:creator>
  <cp:lastModifiedBy>Katherine Chen</cp:lastModifiedBy>
  <cp:revision>1</cp:revision>
  <dcterms:created xsi:type="dcterms:W3CDTF">2026-09-14T04:01:39Z</dcterms:created>
  <dcterms:modified xsi:type="dcterms:W3CDTF">2026-09-14T04:02:30Z</dcterms:modified>
</cp:coreProperties>
</file>